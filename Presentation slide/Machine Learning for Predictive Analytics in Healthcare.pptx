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80" r:id="rId3"/>
    <p:sldId id="257" r:id="rId4"/>
    <p:sldId id="258" r:id="rId5"/>
    <p:sldId id="259" r:id="rId6"/>
    <p:sldId id="260" r:id="rId7"/>
    <p:sldId id="261" r:id="rId8"/>
    <p:sldId id="272" r:id="rId9"/>
    <p:sldId id="265" r:id="rId10"/>
    <p:sldId id="266" r:id="rId11"/>
    <p:sldId id="267" r:id="rId12"/>
    <p:sldId id="274" r:id="rId13"/>
    <p:sldId id="276" r:id="rId14"/>
    <p:sldId id="268" r:id="rId15"/>
    <p:sldId id="278" r:id="rId16"/>
    <p:sldId id="269"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22" autoAdjust="0"/>
  </p:normalViewPr>
  <p:slideViewPr>
    <p:cSldViewPr snapToGrid="0">
      <p:cViewPr varScale="1">
        <p:scale>
          <a:sx n="107" d="100"/>
          <a:sy n="107"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53577161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2036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1075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639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b3c8aada9e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b3c8aada9e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9088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225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32" name="Google Shape;13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7511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6" name="Google Shape;1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0875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6" name="Google Shape;1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0590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0" name="Google Shape;25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8362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4863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0096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9970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6420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9044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7257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4" name="Google Shape;28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0520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code/sagnik1511/doctor-s-fee-prediction-using-random-fores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hyperlink" Target="https://www.kaggle.com/datasets/joniarroba/noshowappointments/code?datasetId=792&amp;sortBy=voteCoun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3"/>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a:off x="0" y="0"/>
            <a:ext cx="12192000"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86;p13"/>
          <p:cNvSpPr/>
          <p:nvPr/>
        </p:nvSpPr>
        <p:spPr>
          <a:xfrm>
            <a:off x="0" y="0"/>
            <a:ext cx="12192000" cy="6858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13"/>
          <p:cNvSpPr/>
          <p:nvPr/>
        </p:nvSpPr>
        <p:spPr>
          <a:xfrm>
            <a:off x="2815929" y="148929"/>
            <a:ext cx="6560142" cy="656014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8" name="Google Shape;88;p13"/>
          <p:cNvSpPr txBox="1">
            <a:spLocks noGrp="1"/>
          </p:cNvSpPr>
          <p:nvPr>
            <p:ph type="ctrTitle"/>
          </p:nvPr>
        </p:nvSpPr>
        <p:spPr>
          <a:xfrm>
            <a:off x="3316531" y="3345970"/>
            <a:ext cx="5562000" cy="25134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85185"/>
              <a:buFont typeface="Calibri"/>
              <a:buNone/>
            </a:pPr>
            <a:r>
              <a:rPr lang="en-US" sz="3600" b="1">
                <a:latin typeface="Times New Roman"/>
                <a:ea typeface="Times New Roman"/>
                <a:cs typeface="Times New Roman"/>
                <a:sym typeface="Times New Roman"/>
              </a:rPr>
              <a:t>WELCOME TO OUR PRESENTATION</a:t>
            </a:r>
            <a:r>
              <a:rPr lang="en-US" sz="3300">
                <a:latin typeface="Times New Roman"/>
                <a:ea typeface="Times New Roman"/>
                <a:cs typeface="Times New Roman"/>
                <a:sym typeface="Times New Roman"/>
              </a:rPr>
              <a:t/>
            </a:r>
            <a:br>
              <a:rPr lang="en-US" sz="3300">
                <a:latin typeface="Times New Roman"/>
                <a:ea typeface="Times New Roman"/>
                <a:cs typeface="Times New Roman"/>
                <a:sym typeface="Times New Roman"/>
              </a:rPr>
            </a:br>
            <a:r>
              <a:rPr lang="en-US" sz="3300">
                <a:latin typeface="Times New Roman"/>
                <a:ea typeface="Times New Roman"/>
                <a:cs typeface="Times New Roman"/>
                <a:sym typeface="Times New Roman"/>
              </a:rPr>
              <a:t/>
            </a:r>
            <a:br>
              <a:rPr lang="en-US" sz="3300">
                <a:latin typeface="Times New Roman"/>
                <a:ea typeface="Times New Roman"/>
                <a:cs typeface="Times New Roman"/>
                <a:sym typeface="Times New Roman"/>
              </a:rPr>
            </a:br>
            <a:r>
              <a:rPr lang="en-US" sz="3100" b="1">
                <a:latin typeface="Consolas"/>
                <a:ea typeface="Consolas"/>
                <a:cs typeface="Consolas"/>
                <a:sym typeface="Consolas"/>
              </a:rPr>
              <a:t>Our Project</a:t>
            </a:r>
            <a:r>
              <a:rPr lang="en-US" sz="3100">
                <a:latin typeface="Consolas"/>
                <a:ea typeface="Consolas"/>
                <a:cs typeface="Consolas"/>
                <a:sym typeface="Consolas"/>
              </a:rPr>
              <a:t/>
            </a:r>
            <a:br>
              <a:rPr lang="en-US" sz="3100">
                <a:latin typeface="Consolas"/>
                <a:ea typeface="Consolas"/>
                <a:cs typeface="Consolas"/>
                <a:sym typeface="Consolas"/>
              </a:rPr>
            </a:br>
            <a:r>
              <a:rPr lang="en-US" sz="3300">
                <a:latin typeface="Times New Roman"/>
                <a:ea typeface="Times New Roman"/>
                <a:cs typeface="Times New Roman"/>
                <a:sym typeface="Times New Roman"/>
              </a:rPr>
              <a:t/>
            </a:r>
            <a:br>
              <a:rPr lang="en-US" sz="3300">
                <a:latin typeface="Times New Roman"/>
                <a:ea typeface="Times New Roman"/>
                <a:cs typeface="Times New Roman"/>
                <a:sym typeface="Times New Roman"/>
              </a:rPr>
            </a:br>
            <a:r>
              <a:rPr lang="en-US" sz="4400">
                <a:latin typeface="Times New Roman"/>
                <a:ea typeface="Times New Roman"/>
                <a:cs typeface="Times New Roman"/>
                <a:sym typeface="Times New Roman"/>
              </a:rPr>
              <a:t>“</a:t>
            </a:r>
            <a:r>
              <a:rPr lang="en-US" sz="2711" b="1">
                <a:latin typeface="Arial"/>
                <a:ea typeface="Arial"/>
                <a:cs typeface="Arial"/>
                <a:sym typeface="Arial"/>
              </a:rPr>
              <a:t>Machine Learning for Predictive Analytics in Healthcare: Patient Appointments and Physician Billing</a:t>
            </a:r>
            <a:r>
              <a:rPr lang="en-US" sz="4400">
                <a:latin typeface="Times New Roman"/>
                <a:ea typeface="Times New Roman"/>
                <a:cs typeface="Times New Roman"/>
                <a:sym typeface="Times New Roman"/>
              </a:rPr>
              <a:t>”</a:t>
            </a:r>
            <a:br>
              <a:rPr lang="en-US" sz="4400">
                <a:latin typeface="Times New Roman"/>
                <a:ea typeface="Times New Roman"/>
                <a:cs typeface="Times New Roman"/>
                <a:sym typeface="Times New Roman"/>
              </a:rPr>
            </a:br>
            <a:endParaRPr sz="3300">
              <a:latin typeface="Times New Roman"/>
              <a:ea typeface="Times New Roman"/>
              <a:cs typeface="Times New Roman"/>
              <a:sym typeface="Times New Roman"/>
            </a:endParaRPr>
          </a:p>
        </p:txBody>
      </p:sp>
      <p:sp>
        <p:nvSpPr>
          <p:cNvPr id="89" name="Google Shape;89;p13"/>
          <p:cNvSpPr/>
          <p:nvPr/>
        </p:nvSpPr>
        <p:spPr>
          <a:xfrm rot="-1577571" flipH="1">
            <a:off x="2549894" y="-61512"/>
            <a:ext cx="7050267" cy="7122749"/>
          </a:xfrm>
          <a:prstGeom prst="arc">
            <a:avLst>
              <a:gd name="adj1" fmla="val 16200000"/>
              <a:gd name="adj2" fmla="val 20093138"/>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0" name="Google Shape;90;p13"/>
          <p:cNvSpPr/>
          <p:nvPr/>
        </p:nvSpPr>
        <p:spPr>
          <a:xfrm>
            <a:off x="8200995" y="5310973"/>
            <a:ext cx="705948" cy="686798"/>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4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7"/>
                                        </p:tgtEl>
                                        <p:attrNameLst>
                                          <p:attrName>style.visibility</p:attrName>
                                        </p:attrNameLst>
                                      </p:cBhvr>
                                      <p:to>
                                        <p:strVal val="visible"/>
                                      </p:to>
                                    </p:set>
                                    <p:animEffect transition="in" filter="fade">
                                      <p:cBhvr>
                                        <p:cTn id="12" dur="2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p:nvPr/>
        </p:nvSpPr>
        <p:spPr>
          <a:xfrm>
            <a:off x="0"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 name="Google Shape;96;p14"/>
          <p:cNvSpPr txBox="1">
            <a:spLocks noGrp="1"/>
          </p:cNvSpPr>
          <p:nvPr>
            <p:ph type="title"/>
          </p:nvPr>
        </p:nvSpPr>
        <p:spPr>
          <a:xfrm>
            <a:off x="791180" y="1322773"/>
            <a:ext cx="4952672" cy="764068"/>
          </a:xfrm>
          <a:prstGeom prst="rect">
            <a:avLst/>
          </a:prstGeom>
          <a:noFill/>
          <a:ln>
            <a:noFill/>
          </a:ln>
        </p:spPr>
        <p:txBody>
          <a:bodyPr spcFirstLastPara="1" wrap="square" lIns="91425" tIns="45700" rIns="91425" bIns="45700" anchor="ctr" anchorCtr="0">
            <a:normAutofit/>
          </a:bodyPr>
          <a:lstStyle/>
          <a:p>
            <a:pPr marL="114300"/>
            <a:r>
              <a:rPr lang="en-US" sz="2800" dirty="0"/>
              <a:t>Supervisor</a:t>
            </a:r>
          </a:p>
        </p:txBody>
      </p:sp>
      <p:sp>
        <p:nvSpPr>
          <p:cNvPr id="97" name="Google Shape;97;p14"/>
          <p:cNvSpPr/>
          <p:nvPr/>
        </p:nvSpPr>
        <p:spPr>
          <a:xfrm>
            <a:off x="960964" y="2160128"/>
            <a:ext cx="4294617" cy="45719"/>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4"/>
          <p:cNvSpPr txBox="1">
            <a:spLocks noGrp="1"/>
          </p:cNvSpPr>
          <p:nvPr>
            <p:ph type="body" idx="1"/>
          </p:nvPr>
        </p:nvSpPr>
        <p:spPr>
          <a:xfrm>
            <a:off x="791180" y="2507283"/>
            <a:ext cx="4809522" cy="2064717"/>
          </a:xfrm>
          <a:prstGeom prst="rect">
            <a:avLst/>
          </a:prstGeom>
          <a:noFill/>
          <a:ln>
            <a:solidFill>
              <a:schemeClr val="tx1"/>
            </a:solidFill>
          </a:ln>
        </p:spPr>
        <p:txBody>
          <a:bodyPr spcFirstLastPara="1" wrap="square" lIns="91425" tIns="45700" rIns="91425" bIns="45700" anchor="t" anchorCtr="0">
            <a:normAutofit fontScale="32500" lnSpcReduction="20000"/>
          </a:bodyPr>
          <a:lstStyle/>
          <a:p>
            <a:pPr marL="114300" indent="0">
              <a:buNone/>
            </a:pPr>
            <a:r>
              <a:rPr lang="en-US" sz="6400" b="1" dirty="0" err="1" smtClean="0"/>
              <a:t>Sondip</a:t>
            </a:r>
            <a:r>
              <a:rPr lang="en-US" sz="6400" b="1" dirty="0" smtClean="0"/>
              <a:t> </a:t>
            </a:r>
            <a:r>
              <a:rPr lang="en-US" sz="6400" b="1" dirty="0" err="1"/>
              <a:t>Poul</a:t>
            </a:r>
            <a:r>
              <a:rPr lang="en-US" sz="6400" b="1" dirty="0"/>
              <a:t> Singh</a:t>
            </a:r>
          </a:p>
          <a:p>
            <a:pPr marL="114300" indent="0">
              <a:buNone/>
            </a:pPr>
            <a:r>
              <a:rPr lang="en-US" sz="6400" dirty="0" smtClean="0"/>
              <a:t>Assistant Professor</a:t>
            </a:r>
          </a:p>
          <a:p>
            <a:pPr marL="114300" indent="0">
              <a:buNone/>
            </a:pPr>
            <a:endParaRPr lang="en-US" sz="6400" dirty="0"/>
          </a:p>
          <a:p>
            <a:pPr marL="114300" indent="0">
              <a:buNone/>
            </a:pPr>
            <a:r>
              <a:rPr lang="en-US" sz="4900" dirty="0"/>
              <a:t>Department of Computer Science and Engineering</a:t>
            </a:r>
          </a:p>
          <a:p>
            <a:pPr marL="114300" indent="0">
              <a:buNone/>
            </a:pPr>
            <a:r>
              <a:rPr lang="en-US" sz="4900" dirty="0"/>
              <a:t>Bangladesh University of Business and Technology</a:t>
            </a:r>
          </a:p>
          <a:p>
            <a:pPr marL="114300" indent="0">
              <a:buNone/>
            </a:pPr>
            <a:r>
              <a:rPr lang="en-US" sz="2400" dirty="0"/>
              <a:t/>
            </a:r>
            <a:br>
              <a:rPr lang="en-US" sz="2400" dirty="0"/>
            </a:br>
            <a:endParaRPr sz="2200" dirty="0"/>
          </a:p>
        </p:txBody>
      </p:sp>
      <p:sp>
        <p:nvSpPr>
          <p:cNvPr id="7" name="Google Shape;96;p14"/>
          <p:cNvSpPr txBox="1">
            <a:spLocks/>
          </p:cNvSpPr>
          <p:nvPr/>
        </p:nvSpPr>
        <p:spPr>
          <a:xfrm>
            <a:off x="6617913" y="1322773"/>
            <a:ext cx="5600700" cy="774088"/>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14300"/>
            <a:r>
              <a:rPr lang="en-US" sz="2800" dirty="0"/>
              <a:t>Course Teacher</a:t>
            </a:r>
          </a:p>
        </p:txBody>
      </p:sp>
      <p:sp>
        <p:nvSpPr>
          <p:cNvPr id="8" name="Google Shape;98;p14"/>
          <p:cNvSpPr txBox="1">
            <a:spLocks/>
          </p:cNvSpPr>
          <p:nvPr/>
        </p:nvSpPr>
        <p:spPr>
          <a:xfrm>
            <a:off x="6617913" y="2479617"/>
            <a:ext cx="4904957" cy="2092383"/>
          </a:xfrm>
          <a:prstGeom prst="rect">
            <a:avLst/>
          </a:prstGeom>
          <a:noFill/>
          <a:ln>
            <a:solidFill>
              <a:schemeClr val="tx1"/>
            </a:solidFill>
          </a:ln>
        </p:spPr>
        <p:txBody>
          <a:bodyPr spcFirstLastPara="1" wrap="square" lIns="91425" tIns="45700" rIns="91425" bIns="45700" anchor="t" anchorCtr="0">
            <a:normAutofit fontScale="47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US" sz="4400" b="1" dirty="0" smtClean="0"/>
              <a:t>Md</a:t>
            </a:r>
            <a:r>
              <a:rPr lang="en-US" sz="4400" b="1" dirty="0"/>
              <a:t>. Anwar </a:t>
            </a:r>
            <a:r>
              <a:rPr lang="en-US" sz="4400" b="1" dirty="0" err="1"/>
              <a:t>Hussen</a:t>
            </a:r>
            <a:r>
              <a:rPr lang="en-US" sz="4400" b="1" dirty="0"/>
              <a:t> </a:t>
            </a:r>
            <a:r>
              <a:rPr lang="en-US" sz="4400" b="1" dirty="0" err="1" smtClean="0"/>
              <a:t>Wadud</a:t>
            </a:r>
            <a:r>
              <a:rPr lang="en-US" sz="4400" b="1" dirty="0" smtClean="0"/>
              <a:t> </a:t>
            </a:r>
          </a:p>
          <a:p>
            <a:pPr marL="114300" indent="0">
              <a:buNone/>
            </a:pPr>
            <a:r>
              <a:rPr lang="en-US" sz="3800" dirty="0" smtClean="0"/>
              <a:t>Assistant </a:t>
            </a:r>
            <a:r>
              <a:rPr lang="en-US" sz="4400" dirty="0" smtClean="0"/>
              <a:t>Professor</a:t>
            </a:r>
          </a:p>
          <a:p>
            <a:pPr marL="114300" indent="0">
              <a:buNone/>
            </a:pPr>
            <a:endParaRPr lang="en-US" sz="4400" dirty="0" smtClean="0"/>
          </a:p>
          <a:p>
            <a:pPr marL="114300" indent="0">
              <a:buFont typeface="Arial"/>
              <a:buNone/>
            </a:pPr>
            <a:r>
              <a:rPr lang="en-US" sz="3400" dirty="0" smtClean="0"/>
              <a:t>Department of Computer Science and Engineering</a:t>
            </a:r>
          </a:p>
          <a:p>
            <a:pPr marL="114300" indent="0">
              <a:buFont typeface="Arial"/>
              <a:buNone/>
            </a:pPr>
            <a:r>
              <a:rPr lang="en-US" sz="3400" dirty="0" smtClean="0"/>
              <a:t>Bangladesh University of Business and Technology</a:t>
            </a:r>
          </a:p>
          <a:p>
            <a:pPr marL="114300" indent="0">
              <a:buFont typeface="Arial"/>
              <a:buNone/>
            </a:pPr>
            <a:r>
              <a:rPr lang="en-US" sz="2400" dirty="0" smtClean="0"/>
              <a:t/>
            </a:r>
            <a:br>
              <a:rPr lang="en-US" sz="2400" dirty="0" smtClean="0"/>
            </a:br>
            <a:endParaRPr lang="en-US" sz="2200" dirty="0"/>
          </a:p>
        </p:txBody>
      </p:sp>
      <p:sp>
        <p:nvSpPr>
          <p:cNvPr id="9" name="Google Shape;97;p14"/>
          <p:cNvSpPr/>
          <p:nvPr/>
        </p:nvSpPr>
        <p:spPr>
          <a:xfrm flipV="1">
            <a:off x="6750381" y="2110635"/>
            <a:ext cx="4222419" cy="45719"/>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573574534"/>
      </p:ext>
    </p:extLst>
  </p:cSld>
  <p:clrMapOvr>
    <a:masterClrMapping/>
  </p:clrMapOvr>
  <p:transition spd="slow">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4"/>
          <p:cNvSpPr/>
          <p:nvPr/>
        </p:nvSpPr>
        <p:spPr>
          <a:xfrm>
            <a:off x="0"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 name="Google Shape;9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Times New Roman"/>
              <a:buNone/>
            </a:pPr>
            <a:r>
              <a:rPr lang="en-US" sz="4800" b="1">
                <a:latin typeface="Times New Roman"/>
                <a:ea typeface="Times New Roman"/>
                <a:cs typeface="Times New Roman"/>
                <a:sym typeface="Times New Roman"/>
              </a:rPr>
              <a:t>Presented by</a:t>
            </a:r>
            <a:endParaRPr/>
          </a:p>
        </p:txBody>
      </p:sp>
      <p:sp>
        <p:nvSpPr>
          <p:cNvPr id="97" name="Google Shape;97;p14"/>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4"/>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200"/>
              <a:buAutoNum type="arabicPeriod"/>
            </a:pPr>
            <a:r>
              <a:rPr lang="en-US" sz="2200" b="1">
                <a:latin typeface="Arial"/>
                <a:ea typeface="Arial"/>
                <a:cs typeface="Arial"/>
                <a:sym typeface="Arial"/>
              </a:rPr>
              <a:t>Parvas Hossain Piash</a:t>
            </a:r>
            <a:endParaRPr sz="2200">
              <a:latin typeface="Arial"/>
              <a:ea typeface="Arial"/>
              <a:cs typeface="Arial"/>
              <a:sym typeface="Arial"/>
            </a:endParaRPr>
          </a:p>
          <a:p>
            <a:pPr marL="0" lvl="0" indent="0" algn="l" rtl="0">
              <a:lnSpc>
                <a:spcPct val="90000"/>
              </a:lnSpc>
              <a:spcBef>
                <a:spcPts val="600"/>
              </a:spcBef>
              <a:spcAft>
                <a:spcPts val="0"/>
              </a:spcAft>
              <a:buClr>
                <a:schemeClr val="dk1"/>
              </a:buClr>
              <a:buSzPts val="2200"/>
              <a:buNone/>
            </a:pPr>
            <a:r>
              <a:rPr lang="en-US" sz="2200"/>
              <a:t>    ID-19202103200</a:t>
            </a:r>
            <a:endParaRPr sz="2200">
              <a:latin typeface="Arial"/>
              <a:ea typeface="Arial"/>
              <a:cs typeface="Arial"/>
              <a:sym typeface="Arial"/>
            </a:endParaRPr>
          </a:p>
          <a:p>
            <a:pPr marL="0" lvl="0" indent="0" algn="l" rtl="0">
              <a:lnSpc>
                <a:spcPct val="90000"/>
              </a:lnSpc>
              <a:spcBef>
                <a:spcPts val="600"/>
              </a:spcBef>
              <a:spcAft>
                <a:spcPts val="0"/>
              </a:spcAft>
              <a:buClr>
                <a:schemeClr val="dk1"/>
              </a:buClr>
              <a:buSzPts val="2200"/>
              <a:buNone/>
            </a:pPr>
            <a:r>
              <a:rPr lang="en-US" sz="2200" b="1">
                <a:latin typeface="Arial"/>
                <a:ea typeface="Arial"/>
                <a:cs typeface="Arial"/>
                <a:sym typeface="Arial"/>
              </a:rPr>
              <a:t>2.   Md. Meherab Hossen Apu</a:t>
            </a:r>
            <a:endParaRPr sz="2200">
              <a:latin typeface="Arial"/>
              <a:ea typeface="Arial"/>
              <a:cs typeface="Arial"/>
              <a:sym typeface="Arial"/>
            </a:endParaRPr>
          </a:p>
          <a:p>
            <a:pPr marL="0" lvl="0" indent="0" algn="l" rtl="0">
              <a:lnSpc>
                <a:spcPct val="90000"/>
              </a:lnSpc>
              <a:spcBef>
                <a:spcPts val="600"/>
              </a:spcBef>
              <a:spcAft>
                <a:spcPts val="0"/>
              </a:spcAft>
              <a:buClr>
                <a:schemeClr val="dk1"/>
              </a:buClr>
              <a:buSzPts val="2200"/>
              <a:buNone/>
            </a:pPr>
            <a:r>
              <a:rPr lang="en-US" sz="2200" b="1"/>
              <a:t>  </a:t>
            </a:r>
            <a:r>
              <a:rPr lang="en-US" sz="2200"/>
              <a:t> ID-192012103199</a:t>
            </a:r>
            <a:endParaRPr/>
          </a:p>
          <a:p>
            <a:pPr marL="0" lvl="0" indent="0" algn="l" rtl="0">
              <a:lnSpc>
                <a:spcPct val="90000"/>
              </a:lnSpc>
              <a:spcBef>
                <a:spcPts val="600"/>
              </a:spcBef>
              <a:spcAft>
                <a:spcPts val="0"/>
              </a:spcAft>
              <a:buSzPts val="2200"/>
              <a:buNone/>
            </a:pPr>
            <a:r>
              <a:rPr lang="en-US" sz="2200" b="1">
                <a:latin typeface="Arial"/>
                <a:ea typeface="Arial"/>
                <a:cs typeface="Arial"/>
                <a:sym typeface="Arial"/>
              </a:rPr>
              <a:t>3.  </a:t>
            </a:r>
            <a:r>
              <a:rPr lang="en-US" sz="2000" b="1">
                <a:latin typeface="Arial"/>
                <a:ea typeface="Arial"/>
                <a:cs typeface="Arial"/>
                <a:sym typeface="Arial"/>
              </a:rPr>
              <a:t>Md. Naeem Islam </a:t>
            </a:r>
            <a:r>
              <a:rPr lang="en-US" sz="2200"/>
              <a:t>   </a:t>
            </a:r>
            <a:endParaRPr/>
          </a:p>
          <a:p>
            <a:pPr marL="0" lvl="0" indent="0" algn="l" rtl="0">
              <a:lnSpc>
                <a:spcPct val="90000"/>
              </a:lnSpc>
              <a:spcBef>
                <a:spcPts val="600"/>
              </a:spcBef>
              <a:spcAft>
                <a:spcPts val="0"/>
              </a:spcAft>
              <a:buSzPts val="2200"/>
              <a:buNone/>
            </a:pPr>
            <a:r>
              <a:rPr lang="en-US" sz="2200"/>
              <a:t>   ID-19202103182</a:t>
            </a:r>
            <a:endParaRPr/>
          </a:p>
          <a:p>
            <a:pPr marL="0" lvl="0" indent="0" algn="l" rtl="0">
              <a:lnSpc>
                <a:spcPct val="90000"/>
              </a:lnSpc>
              <a:spcBef>
                <a:spcPts val="600"/>
              </a:spcBef>
              <a:spcAft>
                <a:spcPts val="0"/>
              </a:spcAft>
              <a:buSzPts val="2200"/>
              <a:buNone/>
            </a:pPr>
            <a:r>
              <a:rPr lang="en-US" sz="2200" b="1">
                <a:latin typeface="Arial"/>
                <a:ea typeface="Arial"/>
                <a:cs typeface="Arial"/>
                <a:sym typeface="Arial"/>
              </a:rPr>
              <a:t>4.  </a:t>
            </a:r>
            <a:r>
              <a:rPr lang="en-US" sz="2000" b="1">
                <a:latin typeface="Arial"/>
                <a:ea typeface="Arial"/>
                <a:cs typeface="Arial"/>
                <a:sym typeface="Arial"/>
              </a:rPr>
              <a:t>Md. Robiul Islam </a:t>
            </a:r>
            <a:r>
              <a:rPr lang="en-US" sz="2200"/>
              <a:t>     </a:t>
            </a:r>
            <a:endParaRPr/>
          </a:p>
          <a:p>
            <a:pPr marL="0" lvl="0" indent="0" algn="l" rtl="0">
              <a:lnSpc>
                <a:spcPct val="90000"/>
              </a:lnSpc>
              <a:spcBef>
                <a:spcPts val="600"/>
              </a:spcBef>
              <a:spcAft>
                <a:spcPts val="0"/>
              </a:spcAft>
              <a:buSzPts val="2200"/>
              <a:buNone/>
            </a:pPr>
            <a:r>
              <a:rPr lang="en-US" sz="2200"/>
              <a:t>  ID-19202103175</a:t>
            </a:r>
            <a:endParaRPr/>
          </a:p>
          <a:p>
            <a:pPr marL="0" lvl="0" indent="0" algn="l" rtl="0">
              <a:lnSpc>
                <a:spcPct val="90000"/>
              </a:lnSpc>
              <a:spcBef>
                <a:spcPts val="600"/>
              </a:spcBef>
              <a:spcAft>
                <a:spcPts val="0"/>
              </a:spcAft>
              <a:buSzPts val="2200"/>
              <a:buNone/>
            </a:pPr>
            <a:r>
              <a:rPr lang="en-US" sz="2200" b="1">
                <a:latin typeface="Arial"/>
                <a:ea typeface="Arial"/>
                <a:cs typeface="Arial"/>
                <a:sym typeface="Arial"/>
              </a:rPr>
              <a:t>5.  </a:t>
            </a:r>
            <a:r>
              <a:rPr lang="en-US" sz="2000" b="1">
                <a:latin typeface="Arial"/>
                <a:ea typeface="Arial"/>
                <a:cs typeface="Arial"/>
                <a:sym typeface="Arial"/>
              </a:rPr>
              <a:t>Dolon Roy Chowdhury </a:t>
            </a:r>
            <a:endParaRPr sz="2000" b="1">
              <a:latin typeface="Arial"/>
              <a:ea typeface="Arial"/>
              <a:cs typeface="Arial"/>
              <a:sym typeface="Arial"/>
            </a:endParaRPr>
          </a:p>
          <a:p>
            <a:pPr marL="0" lvl="0" indent="0" algn="l" rtl="0">
              <a:lnSpc>
                <a:spcPct val="90000"/>
              </a:lnSpc>
              <a:spcBef>
                <a:spcPts val="600"/>
              </a:spcBef>
              <a:spcAft>
                <a:spcPts val="0"/>
              </a:spcAft>
              <a:buClr>
                <a:schemeClr val="dk1"/>
              </a:buClr>
              <a:buSzPts val="2200"/>
              <a:buNone/>
            </a:pPr>
            <a:r>
              <a:rPr lang="en-US" sz="2200" b="1">
                <a:latin typeface="Arial"/>
                <a:ea typeface="Arial"/>
                <a:cs typeface="Arial"/>
                <a:sym typeface="Arial"/>
              </a:rPr>
              <a:t>  </a:t>
            </a:r>
            <a:r>
              <a:rPr lang="en-US" sz="2200"/>
              <a:t>ID-19202103171</a:t>
            </a:r>
            <a:endParaRPr sz="2200"/>
          </a:p>
        </p:txBody>
      </p:sp>
    </p:spTree>
  </p:cSld>
  <p:clrMapOvr>
    <a:masterClrMapping/>
  </p:clrMapOvr>
  <p:transition spd="slow">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p:nvPr/>
        </p:nvSpPr>
        <p:spPr>
          <a:xfrm>
            <a:off x="0" y="0"/>
            <a:ext cx="12189000"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 name="Google Shape;104;p15"/>
          <p:cNvSpPr txBox="1">
            <a:spLocks noGrp="1"/>
          </p:cNvSpPr>
          <p:nvPr>
            <p:ph type="title" idx="4294967295"/>
          </p:nvPr>
        </p:nvSpPr>
        <p:spPr>
          <a:xfrm>
            <a:off x="836700" y="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Times New Roman"/>
              <a:buNone/>
            </a:pPr>
            <a:r>
              <a:rPr lang="en-US" sz="4800" b="1">
                <a:latin typeface="Times New Roman"/>
                <a:ea typeface="Times New Roman"/>
                <a:cs typeface="Times New Roman"/>
                <a:sym typeface="Times New Roman"/>
              </a:rPr>
              <a:t>Agenda</a:t>
            </a:r>
            <a:endParaRPr/>
          </a:p>
        </p:txBody>
      </p:sp>
      <p:sp>
        <p:nvSpPr>
          <p:cNvPr id="105" name="Google Shape;105;p15"/>
          <p:cNvSpPr/>
          <p:nvPr/>
        </p:nvSpPr>
        <p:spPr>
          <a:xfrm>
            <a:off x="669036" y="1152798"/>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6" name="Google Shape;106;p15"/>
          <p:cNvSpPr txBox="1">
            <a:spLocks noGrp="1"/>
          </p:cNvSpPr>
          <p:nvPr>
            <p:ph type="body" idx="4294967295"/>
          </p:nvPr>
        </p:nvSpPr>
        <p:spPr>
          <a:xfrm>
            <a:off x="838200" y="1391023"/>
            <a:ext cx="10515600" cy="5110800"/>
          </a:xfrm>
          <a:prstGeom prst="rect">
            <a:avLst/>
          </a:prstGeom>
          <a:noFill/>
          <a:ln>
            <a:noFill/>
          </a:ln>
        </p:spPr>
        <p:txBody>
          <a:bodyPr spcFirstLastPara="1" wrap="square" lIns="91425" tIns="45700" rIns="91425" bIns="45700" anchor="t" anchorCtr="0">
            <a:noAutofit/>
          </a:bodyPr>
          <a:lstStyle/>
          <a:p>
            <a:pPr marL="457200" lvl="0" indent="-387350" algn="l" rtl="0">
              <a:lnSpc>
                <a:spcPct val="140000"/>
              </a:lnSpc>
              <a:spcBef>
                <a:spcPts val="600"/>
              </a:spcBef>
              <a:spcAft>
                <a:spcPts val="0"/>
              </a:spcAft>
              <a:buSzPts val="2500"/>
              <a:buFont typeface="Arial"/>
              <a:buChar char="❏"/>
            </a:pPr>
            <a:r>
              <a:rPr lang="en-US" sz="2500" b="1">
                <a:latin typeface="Arial"/>
                <a:ea typeface="Arial"/>
                <a:cs typeface="Arial"/>
                <a:sym typeface="Arial"/>
              </a:rPr>
              <a:t>Introduction </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Motivation</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Objective</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Literature Review</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Dataset</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Proposed Methodology</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Result Analysis </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Conclusion and Future Work</a:t>
            </a:r>
            <a:endParaRPr sz="2500" b="1">
              <a:latin typeface="Arial"/>
              <a:ea typeface="Arial"/>
              <a:cs typeface="Arial"/>
              <a:sym typeface="Arial"/>
            </a:endParaRPr>
          </a:p>
          <a:p>
            <a:pPr marL="457200" lvl="0" indent="-387350" algn="l" rtl="0">
              <a:lnSpc>
                <a:spcPct val="140000"/>
              </a:lnSpc>
              <a:spcBef>
                <a:spcPts val="0"/>
              </a:spcBef>
              <a:spcAft>
                <a:spcPts val="0"/>
              </a:spcAft>
              <a:buSzPts val="2500"/>
              <a:buFont typeface="Arial"/>
              <a:buChar char="❏"/>
            </a:pPr>
            <a:r>
              <a:rPr lang="en-US" sz="2500" b="1">
                <a:latin typeface="Arial"/>
                <a:ea typeface="Arial"/>
                <a:cs typeface="Arial"/>
                <a:sym typeface="Arial"/>
              </a:rPr>
              <a:t>Reference </a:t>
            </a:r>
            <a:endParaRPr sz="2500" b="1">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p16"/>
          <p:cNvSpPr/>
          <p:nvPr/>
        </p:nvSpPr>
        <p:spPr>
          <a:xfrm>
            <a:off x="0" y="0"/>
            <a:ext cx="12189000"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2" name="Google Shape;11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Times New Roman"/>
              <a:buNone/>
            </a:pPr>
            <a:r>
              <a:rPr lang="en-US" sz="4800" b="1">
                <a:latin typeface="Times New Roman"/>
                <a:ea typeface="Times New Roman"/>
                <a:cs typeface="Times New Roman"/>
                <a:sym typeface="Times New Roman"/>
              </a:rPr>
              <a:t>Introduction</a:t>
            </a:r>
            <a:endParaRPr sz="4800">
              <a:latin typeface="Times New Roman"/>
              <a:ea typeface="Times New Roman"/>
              <a:cs typeface="Times New Roman"/>
              <a:sym typeface="Times New Roman"/>
            </a:endParaRPr>
          </a:p>
        </p:txBody>
      </p:sp>
      <p:sp>
        <p:nvSpPr>
          <p:cNvPr id="113" name="Google Shape;113;p16"/>
          <p:cNvSpPr/>
          <p:nvPr/>
        </p:nvSpPr>
        <p:spPr>
          <a:xfrm>
            <a:off x="838200" y="1865312"/>
            <a:ext cx="10424160" cy="45719"/>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3A3838"/>
              </a:solidFill>
              <a:latin typeface="Arial"/>
              <a:ea typeface="Arial"/>
              <a:cs typeface="Arial"/>
              <a:sym typeface="Arial"/>
            </a:endParaRPr>
          </a:p>
        </p:txBody>
      </p:sp>
      <p:grpSp>
        <p:nvGrpSpPr>
          <p:cNvPr id="114" name="Google Shape;114;p16"/>
          <p:cNvGrpSpPr/>
          <p:nvPr/>
        </p:nvGrpSpPr>
        <p:grpSpPr>
          <a:xfrm>
            <a:off x="386525" y="2156725"/>
            <a:ext cx="11268171" cy="3255743"/>
            <a:chOff x="0" y="518"/>
            <a:chExt cx="10932543" cy="4249762"/>
          </a:xfrm>
        </p:grpSpPr>
        <p:sp>
          <p:nvSpPr>
            <p:cNvPr id="115" name="Google Shape;115;p16"/>
            <p:cNvSpPr/>
            <p:nvPr/>
          </p:nvSpPr>
          <p:spPr>
            <a:xfrm>
              <a:off x="0" y="518"/>
              <a:ext cx="10932543" cy="1214217"/>
            </a:xfrm>
            <a:prstGeom prst="roundRect">
              <a:avLst>
                <a:gd name="adj" fmla="val 10000"/>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8296B0"/>
                </a:solidFill>
                <a:latin typeface="Arial"/>
                <a:ea typeface="Arial"/>
                <a:cs typeface="Arial"/>
                <a:sym typeface="Arial"/>
              </a:endParaRPr>
            </a:p>
          </p:txBody>
        </p:sp>
        <p:sp>
          <p:nvSpPr>
            <p:cNvPr id="116" name="Google Shape;116;p16"/>
            <p:cNvSpPr/>
            <p:nvPr/>
          </p:nvSpPr>
          <p:spPr>
            <a:xfrm>
              <a:off x="1402421" y="518"/>
              <a:ext cx="9530100" cy="121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txBox="1"/>
            <p:nvPr/>
          </p:nvSpPr>
          <p:spPr>
            <a:xfrm>
              <a:off x="1141738" y="518"/>
              <a:ext cx="9790784" cy="1028099"/>
            </a:xfrm>
            <a:prstGeom prst="rect">
              <a:avLst/>
            </a:prstGeom>
            <a:noFill/>
            <a:ln>
              <a:noFill/>
            </a:ln>
          </p:spPr>
          <p:txBody>
            <a:bodyPr spcFirstLastPara="1" wrap="square" lIns="128500" tIns="128500" rIns="128500" bIns="128500" anchor="ctr" anchorCtr="0">
              <a:noAutofit/>
            </a:bodyPr>
            <a:lstStyle/>
            <a:p>
              <a:pPr marL="285750" marR="0" lvl="0" indent="-285750" algn="just" rtl="0">
                <a:lnSpc>
                  <a:spcPct val="100000"/>
                </a:lnSpc>
                <a:spcBef>
                  <a:spcPts val="0"/>
                </a:spcBef>
                <a:spcAft>
                  <a:spcPts val="0"/>
                </a:spcAft>
                <a:buClr>
                  <a:srgbClr val="000000"/>
                </a:buClr>
                <a:buSzPts val="2400"/>
                <a:buFont typeface="Noto Sans Symbols"/>
                <a:buChar char="❖"/>
              </a:pPr>
              <a:r>
                <a:rPr lang="en-US" sz="2400" dirty="0">
                  <a:latin typeface="Times New Roman"/>
                  <a:ea typeface="Times New Roman"/>
                  <a:cs typeface="Times New Roman"/>
                  <a:sym typeface="Times New Roman"/>
                </a:rPr>
                <a:t>S</a:t>
              </a:r>
              <a:r>
                <a:rPr lang="en-US" sz="2400" b="0" i="0" u="none" strike="noStrike" cap="none" dirty="0" smtClean="0">
                  <a:solidFill>
                    <a:srgbClr val="000000"/>
                  </a:solidFill>
                  <a:latin typeface="Times New Roman"/>
                  <a:ea typeface="Times New Roman"/>
                  <a:cs typeface="Times New Roman"/>
                  <a:sym typeface="Times New Roman"/>
                </a:rPr>
                <a:t>implify </a:t>
              </a:r>
              <a:r>
                <a:rPr lang="en-US" sz="2400" b="0" i="0" u="none" strike="noStrike" cap="none" dirty="0">
                  <a:solidFill>
                    <a:srgbClr val="000000"/>
                  </a:solidFill>
                  <a:latin typeface="Times New Roman"/>
                  <a:ea typeface="Times New Roman"/>
                  <a:cs typeface="Times New Roman"/>
                  <a:sym typeface="Times New Roman"/>
                </a:rPr>
                <a:t>the process of scheduling appointments between patients and healthcare providers.</a:t>
              </a:r>
              <a:endParaRPr dirty="0"/>
            </a:p>
          </p:txBody>
        </p:sp>
        <p:sp>
          <p:nvSpPr>
            <p:cNvPr id="118" name="Google Shape;118;p16"/>
            <p:cNvSpPr/>
            <p:nvPr/>
          </p:nvSpPr>
          <p:spPr>
            <a:xfrm>
              <a:off x="0" y="1518291"/>
              <a:ext cx="10932543" cy="1214217"/>
            </a:xfrm>
            <a:prstGeom prst="roundRect">
              <a:avLst>
                <a:gd name="adj" fmla="val 10000"/>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 name="Google Shape;119;p16"/>
            <p:cNvSpPr/>
            <p:nvPr/>
          </p:nvSpPr>
          <p:spPr>
            <a:xfrm>
              <a:off x="1402421" y="1518291"/>
              <a:ext cx="9530121" cy="121421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txBox="1"/>
            <p:nvPr/>
          </p:nvSpPr>
          <p:spPr>
            <a:xfrm>
              <a:off x="1141738" y="1518291"/>
              <a:ext cx="9790805" cy="1214217"/>
            </a:xfrm>
            <a:prstGeom prst="rect">
              <a:avLst/>
            </a:prstGeom>
            <a:noFill/>
            <a:ln>
              <a:noFill/>
            </a:ln>
          </p:spPr>
          <p:txBody>
            <a:bodyPr spcFirstLastPara="1" wrap="square" lIns="128500" tIns="128500" rIns="128500" bIns="128500" anchor="ctr" anchorCtr="0">
              <a:noAutofit/>
            </a:bodyPr>
            <a:lstStyle/>
            <a:p>
              <a:pPr marL="285750" marR="0" lvl="0" indent="-285750" algn="just" rtl="0">
                <a:lnSpc>
                  <a:spcPct val="100000"/>
                </a:lnSpc>
                <a:spcBef>
                  <a:spcPts val="0"/>
                </a:spcBef>
                <a:spcAft>
                  <a:spcPts val="0"/>
                </a:spcAft>
                <a:buClr>
                  <a:srgbClr val="000000"/>
                </a:buClr>
                <a:buSzPts val="2400"/>
                <a:buFont typeface="Noto Sans Symbols"/>
                <a:buChar char="❖"/>
              </a:pPr>
              <a:r>
                <a:rPr lang="en-US" sz="2400" dirty="0" smtClean="0">
                  <a:latin typeface="Times New Roman"/>
                  <a:ea typeface="Times New Roman"/>
                  <a:cs typeface="Times New Roman"/>
                  <a:sym typeface="Times New Roman"/>
                </a:rPr>
                <a:t>Two key </a:t>
              </a:r>
              <a:r>
                <a:rPr lang="en-US" sz="2400" dirty="0">
                  <a:latin typeface="Times New Roman"/>
                  <a:ea typeface="Times New Roman"/>
                  <a:cs typeface="Times New Roman"/>
                  <a:sym typeface="Times New Roman"/>
                </a:rPr>
                <a:t>machine learning components: Doctor’s Fee Prediction System and No-Show Prediction Model.</a:t>
              </a:r>
              <a:endParaRPr dirty="0"/>
            </a:p>
          </p:txBody>
        </p:sp>
        <p:sp>
          <p:nvSpPr>
            <p:cNvPr id="121" name="Google Shape;121;p16"/>
            <p:cNvSpPr/>
            <p:nvPr/>
          </p:nvSpPr>
          <p:spPr>
            <a:xfrm>
              <a:off x="0" y="3036063"/>
              <a:ext cx="10932543" cy="1214217"/>
            </a:xfrm>
            <a:prstGeom prst="roundRect">
              <a:avLst>
                <a:gd name="adj" fmla="val 10000"/>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 name="Google Shape;122;p16"/>
            <p:cNvSpPr/>
            <p:nvPr/>
          </p:nvSpPr>
          <p:spPr>
            <a:xfrm>
              <a:off x="1402421" y="3036063"/>
              <a:ext cx="9530121" cy="121421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txBox="1"/>
            <p:nvPr/>
          </p:nvSpPr>
          <p:spPr>
            <a:xfrm>
              <a:off x="1141738" y="3036068"/>
              <a:ext cx="9790783" cy="1214100"/>
            </a:xfrm>
            <a:prstGeom prst="rect">
              <a:avLst/>
            </a:prstGeom>
            <a:noFill/>
            <a:ln>
              <a:noFill/>
            </a:ln>
          </p:spPr>
          <p:txBody>
            <a:bodyPr spcFirstLastPara="1" wrap="square" lIns="128500" tIns="128500" rIns="128500" bIns="128500" anchor="ctr" anchorCtr="0">
              <a:noAutofit/>
            </a:bodyPr>
            <a:lstStyle/>
            <a:p>
              <a:pPr marL="285750" marR="0" lvl="0" indent="-285750" algn="l" rtl="0">
                <a:lnSpc>
                  <a:spcPct val="100000"/>
                </a:lnSpc>
                <a:spcBef>
                  <a:spcPts val="0"/>
                </a:spcBef>
                <a:spcAft>
                  <a:spcPts val="0"/>
                </a:spcAft>
                <a:buClr>
                  <a:srgbClr val="000000"/>
                </a:buClr>
                <a:buSzPts val="2400"/>
                <a:buFont typeface="Noto Sans Symbols"/>
                <a:buChar char="❖"/>
              </a:pPr>
              <a:r>
                <a:rPr lang="en-US" sz="2400" dirty="0">
                  <a:latin typeface="Times New Roman"/>
                  <a:ea typeface="Times New Roman"/>
                  <a:cs typeface="Times New Roman"/>
                  <a:sym typeface="Times New Roman"/>
                </a:rPr>
                <a:t>Doctor’s Fee Prediction System analyzes factors like specialization, experience, location, and patient demand to recommend competitive fees.</a:t>
              </a:r>
              <a:endParaRPr dirty="0"/>
            </a:p>
          </p:txBody>
        </p:sp>
      </p:grpSp>
      <p:pic>
        <p:nvPicPr>
          <p:cNvPr id="124" name="Google Shape;124;p16"/>
          <p:cNvPicPr preferRelativeResize="0"/>
          <p:nvPr/>
        </p:nvPicPr>
        <p:blipFill rotWithShape="1">
          <a:blip r:embed="rId3">
            <a:alphaModFix/>
          </a:blip>
          <a:srcRect/>
          <a:stretch/>
        </p:blipFill>
        <p:spPr>
          <a:xfrm>
            <a:off x="690613" y="2199744"/>
            <a:ext cx="872700" cy="858600"/>
          </a:xfrm>
          <a:prstGeom prst="ellipse">
            <a:avLst/>
          </a:prstGeom>
          <a:ln>
            <a:noFill/>
          </a:ln>
          <a:effectLst>
            <a:softEdge rad="112500"/>
          </a:effectLst>
        </p:spPr>
      </p:pic>
      <p:pic>
        <p:nvPicPr>
          <p:cNvPr id="125" name="Google Shape;125;p16"/>
          <p:cNvPicPr preferRelativeResize="0"/>
          <p:nvPr/>
        </p:nvPicPr>
        <p:blipFill rotWithShape="1">
          <a:blip r:embed="rId4">
            <a:alphaModFix/>
          </a:blip>
          <a:srcRect/>
          <a:stretch/>
        </p:blipFill>
        <p:spPr>
          <a:xfrm>
            <a:off x="690613" y="3309270"/>
            <a:ext cx="837300" cy="882600"/>
          </a:xfrm>
          <a:prstGeom prst="ellipse">
            <a:avLst/>
          </a:prstGeom>
          <a:ln>
            <a:noFill/>
          </a:ln>
          <a:effectLst>
            <a:softEdge rad="112500"/>
          </a:effectLst>
        </p:spPr>
      </p:pic>
      <p:pic>
        <p:nvPicPr>
          <p:cNvPr id="126" name="Google Shape;126;p16"/>
          <p:cNvPicPr preferRelativeResize="0"/>
          <p:nvPr/>
        </p:nvPicPr>
        <p:blipFill rotWithShape="1">
          <a:blip r:embed="rId5">
            <a:alphaModFix/>
          </a:blip>
          <a:srcRect/>
          <a:stretch/>
        </p:blipFill>
        <p:spPr>
          <a:xfrm>
            <a:off x="669613" y="4602682"/>
            <a:ext cx="858300" cy="809700"/>
          </a:xfrm>
          <a:prstGeom prst="ellipse">
            <a:avLst/>
          </a:prstGeom>
          <a:ln>
            <a:noFill/>
          </a:ln>
          <a:effectLst>
            <a:softEdge rad="112500"/>
          </a:effectLst>
        </p:spPr>
      </p:pic>
      <p:sp>
        <p:nvSpPr>
          <p:cNvPr id="127" name="Google Shape;127;p16"/>
          <p:cNvSpPr/>
          <p:nvPr/>
        </p:nvSpPr>
        <p:spPr>
          <a:xfrm>
            <a:off x="386525" y="5624799"/>
            <a:ext cx="11268149" cy="882600"/>
          </a:xfrm>
          <a:prstGeom prst="roundRect">
            <a:avLst>
              <a:gd name="adj" fmla="val 10000"/>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 name="Google Shape;128;p16"/>
          <p:cNvSpPr txBox="1"/>
          <p:nvPr/>
        </p:nvSpPr>
        <p:spPr>
          <a:xfrm>
            <a:off x="1563313" y="5624713"/>
            <a:ext cx="10091361" cy="858600"/>
          </a:xfrm>
          <a:prstGeom prst="rect">
            <a:avLst/>
          </a:prstGeom>
          <a:noFill/>
          <a:ln>
            <a:noFill/>
          </a:ln>
        </p:spPr>
        <p:txBody>
          <a:bodyPr spcFirstLastPara="1" wrap="square" lIns="128500" tIns="128500" rIns="128500" bIns="128500" anchor="ctr" anchorCtr="0">
            <a:noAutofit/>
          </a:bodyPr>
          <a:lstStyle/>
          <a:p>
            <a:pPr marL="285750" marR="0" lvl="0" indent="-285750" algn="l" rtl="0">
              <a:lnSpc>
                <a:spcPct val="100000"/>
              </a:lnSpc>
              <a:spcBef>
                <a:spcPts val="0"/>
              </a:spcBef>
              <a:spcAft>
                <a:spcPts val="0"/>
              </a:spcAft>
              <a:buClr>
                <a:srgbClr val="000000"/>
              </a:buClr>
              <a:buSzPts val="2400"/>
              <a:buFont typeface="Noto Sans Symbols"/>
              <a:buChar char="❖"/>
            </a:pPr>
            <a:r>
              <a:rPr lang="en-US" sz="2400" dirty="0">
                <a:latin typeface="Times New Roman"/>
                <a:ea typeface="Times New Roman"/>
                <a:cs typeface="Times New Roman"/>
                <a:sym typeface="Times New Roman"/>
              </a:rPr>
              <a:t>No-Show Prediction Model forecasts likelihood of missed appointments based on historical data and patient behavior.</a:t>
            </a:r>
            <a:endParaRPr dirty="0"/>
          </a:p>
        </p:txBody>
      </p:sp>
      <p:pic>
        <p:nvPicPr>
          <p:cNvPr id="129" name="Google Shape;129;p16"/>
          <p:cNvPicPr preferRelativeResize="0"/>
          <p:nvPr/>
        </p:nvPicPr>
        <p:blipFill>
          <a:blip r:embed="rId6">
            <a:alphaModFix/>
          </a:blip>
          <a:stretch>
            <a:fillRect/>
          </a:stretch>
        </p:blipFill>
        <p:spPr>
          <a:xfrm>
            <a:off x="690613" y="5682069"/>
            <a:ext cx="765930" cy="768059"/>
          </a:xfrm>
          <a:prstGeom prst="ellipse">
            <a:avLst/>
          </a:prstGeom>
          <a:ln>
            <a:noFill/>
          </a:ln>
          <a:effectLst>
            <a:softEdge rad="112500"/>
          </a:effectLst>
        </p:spPr>
      </p:pic>
    </p:spTree>
  </p:cSld>
  <p:clrMapOvr>
    <a:masterClrMapping/>
  </p:clrMapOvr>
  <p:transition spd="slow">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17"/>
          <p:cNvSpPr/>
          <p:nvPr/>
        </p:nvSpPr>
        <p:spPr>
          <a:xfrm>
            <a:off x="0"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Times New Roman"/>
              <a:buNone/>
            </a:pPr>
            <a:r>
              <a:rPr lang="en-US" sz="4800" b="1" dirty="0" smtClean="0">
                <a:latin typeface="Times New Roman"/>
                <a:ea typeface="Times New Roman"/>
                <a:cs typeface="Times New Roman"/>
                <a:sym typeface="Times New Roman"/>
              </a:rPr>
              <a:t>Motivation</a:t>
            </a:r>
            <a:r>
              <a:rPr lang="en-US" sz="4800" b="1" dirty="0">
                <a:latin typeface="Times New Roman"/>
                <a:ea typeface="Times New Roman"/>
                <a:cs typeface="Times New Roman"/>
                <a:sym typeface="Times New Roman"/>
              </a:rPr>
              <a:t> </a:t>
            </a:r>
            <a:endParaRPr dirty="0"/>
          </a:p>
        </p:txBody>
      </p:sp>
      <p:sp>
        <p:nvSpPr>
          <p:cNvPr id="136" name="Google Shape;136;p17"/>
          <p:cNvSpPr/>
          <p:nvPr/>
        </p:nvSpPr>
        <p:spPr>
          <a:xfrm>
            <a:off x="838200" y="1590180"/>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37" name="Google Shape;137;p17"/>
          <p:cNvGrpSpPr/>
          <p:nvPr/>
        </p:nvGrpSpPr>
        <p:grpSpPr>
          <a:xfrm>
            <a:off x="830810" y="1865462"/>
            <a:ext cx="10527332" cy="4529158"/>
            <a:chOff x="0" y="-111788"/>
            <a:chExt cx="10527332" cy="5153430"/>
          </a:xfrm>
        </p:grpSpPr>
        <p:sp>
          <p:nvSpPr>
            <p:cNvPr id="138" name="Google Shape;138;p17"/>
            <p:cNvSpPr/>
            <p:nvPr/>
          </p:nvSpPr>
          <p:spPr>
            <a:xfrm>
              <a:off x="0" y="1638"/>
              <a:ext cx="10515600" cy="830652"/>
            </a:xfrm>
            <a:prstGeom prst="roundRect">
              <a:avLst>
                <a:gd name="adj" fmla="val 10000"/>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 name="Google Shape;139;p17"/>
            <p:cNvSpPr/>
            <p:nvPr/>
          </p:nvSpPr>
          <p:spPr>
            <a:xfrm>
              <a:off x="959403" y="1638"/>
              <a:ext cx="9556196" cy="83065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7"/>
            <p:cNvSpPr txBox="1"/>
            <p:nvPr/>
          </p:nvSpPr>
          <p:spPr>
            <a:xfrm>
              <a:off x="959403" y="-111788"/>
              <a:ext cx="9556196" cy="830652"/>
            </a:xfrm>
            <a:prstGeom prst="rect">
              <a:avLst/>
            </a:prstGeom>
            <a:noFill/>
            <a:ln>
              <a:noFill/>
            </a:ln>
          </p:spPr>
          <p:txBody>
            <a:bodyPr spcFirstLastPara="1" wrap="square" lIns="87900" tIns="87900" rIns="87900" bIns="87900" anchor="ctr" anchorCtr="0">
              <a:noAutofit/>
            </a:bodyPr>
            <a:lstStyle/>
            <a:p>
              <a:pPr marL="285750" marR="0" lvl="0" indent="-285750" algn="just" rtl="0">
                <a:lnSpc>
                  <a:spcPct val="25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Times New Roman"/>
                  <a:ea typeface="Times New Roman"/>
                  <a:cs typeface="Times New Roman"/>
                  <a:sym typeface="Times New Roman"/>
                </a:rPr>
                <a:t>Improved patient experience</a:t>
              </a:r>
              <a:endParaRPr dirty="0"/>
            </a:p>
          </p:txBody>
        </p:sp>
        <p:sp>
          <p:nvSpPr>
            <p:cNvPr id="141" name="Google Shape;141;p17"/>
            <p:cNvSpPr/>
            <p:nvPr/>
          </p:nvSpPr>
          <p:spPr>
            <a:xfrm>
              <a:off x="0" y="1039954"/>
              <a:ext cx="10515600" cy="830652"/>
            </a:xfrm>
            <a:prstGeom prst="roundRect">
              <a:avLst>
                <a:gd name="adj" fmla="val 10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 name="Google Shape;142;p17"/>
            <p:cNvSpPr/>
            <p:nvPr/>
          </p:nvSpPr>
          <p:spPr>
            <a:xfrm>
              <a:off x="959403" y="1039954"/>
              <a:ext cx="9556196" cy="83065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17"/>
            <p:cNvSpPr txBox="1"/>
            <p:nvPr/>
          </p:nvSpPr>
          <p:spPr>
            <a:xfrm>
              <a:off x="971136" y="943166"/>
              <a:ext cx="9556196" cy="830652"/>
            </a:xfrm>
            <a:prstGeom prst="rect">
              <a:avLst/>
            </a:prstGeom>
            <a:noFill/>
            <a:ln>
              <a:noFill/>
            </a:ln>
          </p:spPr>
          <p:txBody>
            <a:bodyPr spcFirstLastPara="1" wrap="square" lIns="87900" tIns="87900" rIns="87900" bIns="87900" anchor="ctr" anchorCtr="0">
              <a:noAutofit/>
            </a:bodyPr>
            <a:lstStyle/>
            <a:p>
              <a:pPr marL="285750" marR="0" lvl="0" indent="-285750" algn="just" rtl="0">
                <a:lnSpc>
                  <a:spcPct val="25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Times New Roman"/>
                  <a:ea typeface="Times New Roman"/>
                  <a:cs typeface="Times New Roman"/>
                  <a:sym typeface="Times New Roman"/>
                </a:rPr>
                <a:t>Increased efficiency</a:t>
              </a:r>
              <a:endParaRPr dirty="0"/>
            </a:p>
          </p:txBody>
        </p:sp>
        <p:sp>
          <p:nvSpPr>
            <p:cNvPr id="144" name="Google Shape;144;p17"/>
            <p:cNvSpPr/>
            <p:nvPr/>
          </p:nvSpPr>
          <p:spPr>
            <a:xfrm>
              <a:off x="0" y="2078269"/>
              <a:ext cx="10515600" cy="830652"/>
            </a:xfrm>
            <a:prstGeom prst="roundRect">
              <a:avLst>
                <a:gd name="adj" fmla="val 10000"/>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 name="Google Shape;145;p17"/>
            <p:cNvSpPr/>
            <p:nvPr/>
          </p:nvSpPr>
          <p:spPr>
            <a:xfrm>
              <a:off x="959403" y="2078269"/>
              <a:ext cx="9556196" cy="83065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7"/>
            <p:cNvSpPr txBox="1"/>
            <p:nvPr/>
          </p:nvSpPr>
          <p:spPr>
            <a:xfrm>
              <a:off x="971136" y="1977021"/>
              <a:ext cx="9556196" cy="830652"/>
            </a:xfrm>
            <a:prstGeom prst="rect">
              <a:avLst/>
            </a:prstGeom>
            <a:noFill/>
            <a:ln>
              <a:noFill/>
            </a:ln>
          </p:spPr>
          <p:txBody>
            <a:bodyPr spcFirstLastPara="1" wrap="square" lIns="87900" tIns="87900" rIns="87900" bIns="87900" anchor="ctr" anchorCtr="0">
              <a:noAutofit/>
            </a:bodyPr>
            <a:lstStyle/>
            <a:p>
              <a:pPr marL="285750" marR="0" lvl="0" indent="-285750" algn="just" rtl="0">
                <a:lnSpc>
                  <a:spcPct val="25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Times New Roman"/>
                  <a:ea typeface="Times New Roman"/>
                  <a:cs typeface="Times New Roman"/>
                  <a:sym typeface="Times New Roman"/>
                </a:rPr>
                <a:t>Enhanced patient engagement </a:t>
              </a:r>
              <a:endParaRPr dirty="0"/>
            </a:p>
          </p:txBody>
        </p:sp>
        <p:sp>
          <p:nvSpPr>
            <p:cNvPr id="147" name="Google Shape;147;p17"/>
            <p:cNvSpPr/>
            <p:nvPr/>
          </p:nvSpPr>
          <p:spPr>
            <a:xfrm>
              <a:off x="0" y="3116584"/>
              <a:ext cx="10515600" cy="830652"/>
            </a:xfrm>
            <a:prstGeom prst="roundRect">
              <a:avLst>
                <a:gd name="adj" fmla="val 10000"/>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8" name="Google Shape;148;p17"/>
            <p:cNvSpPr/>
            <p:nvPr/>
          </p:nvSpPr>
          <p:spPr>
            <a:xfrm>
              <a:off x="959403" y="3116584"/>
              <a:ext cx="9556196" cy="83065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17"/>
            <p:cNvSpPr txBox="1"/>
            <p:nvPr/>
          </p:nvSpPr>
          <p:spPr>
            <a:xfrm>
              <a:off x="955098" y="3008031"/>
              <a:ext cx="9556196" cy="830652"/>
            </a:xfrm>
            <a:prstGeom prst="rect">
              <a:avLst/>
            </a:prstGeom>
            <a:noFill/>
            <a:ln>
              <a:noFill/>
            </a:ln>
          </p:spPr>
          <p:txBody>
            <a:bodyPr spcFirstLastPara="1" wrap="square" lIns="87900" tIns="87900" rIns="87900" bIns="87900" anchor="ctr" anchorCtr="0">
              <a:noAutofit/>
            </a:bodyPr>
            <a:lstStyle/>
            <a:p>
              <a:pPr marL="285750" lvl="0" indent="-285750" algn="just">
                <a:lnSpc>
                  <a:spcPct val="250000"/>
                </a:lnSpc>
                <a:buSzPts val="2400"/>
                <a:buFont typeface="Noto Sans Symbols"/>
                <a:buChar char="❖"/>
              </a:pPr>
              <a:r>
                <a:rPr lang="en-US" sz="2400" dirty="0">
                  <a:latin typeface="Times New Roman"/>
                  <a:ea typeface="Times New Roman"/>
                  <a:cs typeface="Times New Roman"/>
                  <a:sym typeface="Times New Roman"/>
                </a:rPr>
                <a:t>Enhance convenience and fairness in the appointment process.</a:t>
              </a:r>
              <a:endParaRPr dirty="0"/>
            </a:p>
          </p:txBody>
        </p:sp>
        <p:sp>
          <p:nvSpPr>
            <p:cNvPr id="22" name="Google Shape;147;p17"/>
            <p:cNvSpPr/>
            <p:nvPr/>
          </p:nvSpPr>
          <p:spPr>
            <a:xfrm>
              <a:off x="11732" y="4210990"/>
              <a:ext cx="10515600" cy="830652"/>
            </a:xfrm>
            <a:prstGeom prst="roundRect">
              <a:avLst>
                <a:gd name="adj" fmla="val 10000"/>
              </a:avLst>
            </a:prstGeom>
            <a:solidFill>
              <a:schemeClr val="lt1"/>
            </a:solidFill>
            <a:ln w="25400" cap="flat" cmpd="sng">
              <a:solidFill>
                <a:schemeClr val="accent4">
                  <a:lumMod val="60000"/>
                  <a:lumOff val="40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 name="Google Shape;149;p17"/>
            <p:cNvSpPr txBox="1"/>
            <p:nvPr/>
          </p:nvSpPr>
          <p:spPr>
            <a:xfrm>
              <a:off x="959403" y="4069336"/>
              <a:ext cx="9556196" cy="830652"/>
            </a:xfrm>
            <a:prstGeom prst="rect">
              <a:avLst/>
            </a:prstGeom>
            <a:noFill/>
            <a:ln>
              <a:noFill/>
            </a:ln>
          </p:spPr>
          <p:txBody>
            <a:bodyPr spcFirstLastPara="1" wrap="square" lIns="87900" tIns="87900" rIns="87900" bIns="87900" anchor="ctr" anchorCtr="0">
              <a:noAutofit/>
            </a:bodyPr>
            <a:lstStyle/>
            <a:p>
              <a:pPr marL="285750" lvl="0" indent="-285750" algn="just">
                <a:lnSpc>
                  <a:spcPct val="250000"/>
                </a:lnSpc>
                <a:buSzPts val="2400"/>
                <a:buFont typeface="Noto Sans Symbols"/>
                <a:buChar char="❖"/>
              </a:pPr>
              <a:r>
                <a:rPr lang="en-US" sz="2400" dirty="0">
                  <a:latin typeface="Times New Roman"/>
                  <a:ea typeface="Times New Roman"/>
                  <a:cs typeface="Times New Roman"/>
                  <a:sym typeface="Times New Roman"/>
                </a:rPr>
                <a:t>Improve resource allocation and reduce no-shows.</a:t>
              </a:r>
              <a:endParaRPr dirty="0"/>
            </a:p>
          </p:txBody>
        </p:sp>
      </p:grpSp>
      <p:pic>
        <p:nvPicPr>
          <p:cNvPr id="150" name="Google Shape;150;p17"/>
          <p:cNvPicPr preferRelativeResize="0"/>
          <p:nvPr/>
        </p:nvPicPr>
        <p:blipFill rotWithShape="1">
          <a:blip r:embed="rId3">
            <a:alphaModFix/>
          </a:blip>
          <a:srcRect/>
          <a:stretch/>
        </p:blipFill>
        <p:spPr>
          <a:xfrm>
            <a:off x="997873" y="2073999"/>
            <a:ext cx="640058" cy="566816"/>
          </a:xfrm>
          <a:prstGeom prst="roundRect">
            <a:avLst>
              <a:gd name="adj" fmla="val 16667"/>
            </a:avLst>
          </a:prstGeom>
          <a:noFill/>
          <a:ln>
            <a:noFill/>
          </a:ln>
          <a:effectLst>
            <a:outerShdw blurRad="152400" dist="12000" dir="900000" sy="98000" kx="110000" ky="200000" algn="tl" rotWithShape="0">
              <a:srgbClr val="000000">
                <a:alpha val="29803"/>
              </a:srgbClr>
            </a:outerShdw>
          </a:effectLst>
        </p:spPr>
      </p:pic>
      <p:pic>
        <p:nvPicPr>
          <p:cNvPr id="151" name="Google Shape;151;p17"/>
          <p:cNvPicPr preferRelativeResize="0"/>
          <p:nvPr/>
        </p:nvPicPr>
        <p:blipFill rotWithShape="1">
          <a:blip r:embed="rId4">
            <a:alphaModFix/>
          </a:blip>
          <a:srcRect/>
          <a:stretch/>
        </p:blipFill>
        <p:spPr>
          <a:xfrm>
            <a:off x="1004943" y="2984647"/>
            <a:ext cx="640058" cy="553935"/>
          </a:xfrm>
          <a:prstGeom prst="roundRect">
            <a:avLst>
              <a:gd name="adj" fmla="val 16667"/>
            </a:avLst>
          </a:prstGeom>
          <a:noFill/>
          <a:ln>
            <a:noFill/>
          </a:ln>
          <a:effectLst>
            <a:outerShdw blurRad="152400" dist="12000" dir="900000" sy="98000" kx="110000" ky="200000" algn="tl" rotWithShape="0">
              <a:srgbClr val="000000">
                <a:alpha val="29803"/>
              </a:srgbClr>
            </a:outerShdw>
          </a:effectLst>
        </p:spPr>
      </p:pic>
      <p:pic>
        <p:nvPicPr>
          <p:cNvPr id="152" name="Google Shape;152;p17"/>
          <p:cNvPicPr preferRelativeResize="0"/>
          <p:nvPr/>
        </p:nvPicPr>
        <p:blipFill rotWithShape="1">
          <a:blip r:embed="rId5">
            <a:alphaModFix/>
          </a:blip>
          <a:srcRect/>
          <a:stretch/>
        </p:blipFill>
        <p:spPr>
          <a:xfrm>
            <a:off x="995541" y="3881460"/>
            <a:ext cx="632988" cy="552063"/>
          </a:xfrm>
          <a:prstGeom prst="roundRect">
            <a:avLst>
              <a:gd name="adj" fmla="val 16667"/>
            </a:avLst>
          </a:prstGeom>
          <a:noFill/>
          <a:ln>
            <a:noFill/>
          </a:ln>
          <a:effectLst>
            <a:outerShdw blurRad="152400" dist="12000" dir="900000" sy="98000" kx="110000" ky="200000" algn="tl" rotWithShape="0">
              <a:srgbClr val="000000">
                <a:alpha val="29803"/>
              </a:srgbClr>
            </a:outerShdw>
          </a:effectLst>
        </p:spPr>
      </p:pic>
      <p:pic>
        <p:nvPicPr>
          <p:cNvPr id="153" name="Google Shape;153;p17"/>
          <p:cNvPicPr preferRelativeResize="0"/>
          <p:nvPr/>
        </p:nvPicPr>
        <p:blipFill rotWithShape="1">
          <a:blip r:embed="rId6">
            <a:alphaModFix/>
          </a:blip>
          <a:srcRect/>
          <a:stretch/>
        </p:blipFill>
        <p:spPr>
          <a:xfrm>
            <a:off x="997873" y="4767158"/>
            <a:ext cx="646455" cy="572482"/>
          </a:xfrm>
          <a:prstGeom prst="roundRect">
            <a:avLst>
              <a:gd name="adj" fmla="val 16667"/>
            </a:avLst>
          </a:prstGeom>
          <a:noFill/>
          <a:ln>
            <a:noFill/>
          </a:ln>
          <a:effectLst>
            <a:outerShdw blurRad="152400" dist="12000" dir="900000" sy="98000" kx="110000" ky="200000" algn="tl" rotWithShape="0">
              <a:srgbClr val="000000">
                <a:alpha val="29803"/>
              </a:srgbClr>
            </a:outerShdw>
          </a:effectLst>
        </p:spPr>
      </p:pic>
      <p:pic>
        <p:nvPicPr>
          <p:cNvPr id="1026" name="Picture 2" descr="Simple Medical icon symbol sign design 9362747 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943" y="5762250"/>
            <a:ext cx="567668" cy="5533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cSld>
  <p:clrMapOvr>
    <a:masterClrMapping/>
  </p:clrMapOvr>
  <p:transition spd="slow">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7"/>
        <p:cNvGrpSpPr/>
        <p:nvPr/>
      </p:nvGrpSpPr>
      <p:grpSpPr>
        <a:xfrm>
          <a:off x="0" y="0"/>
          <a:ext cx="0" cy="0"/>
          <a:chOff x="0" y="0"/>
          <a:chExt cx="0" cy="0"/>
        </a:xfrm>
      </p:grpSpPr>
      <p:sp>
        <p:nvSpPr>
          <p:cNvPr id="158" name="Google Shape;158;p18"/>
          <p:cNvSpPr/>
          <p:nvPr/>
        </p:nvSpPr>
        <p:spPr>
          <a:xfrm>
            <a:off x="0"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9" name="Google Shape;15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Times New Roman"/>
              <a:buNone/>
            </a:pPr>
            <a:r>
              <a:rPr lang="en-US" sz="4800" b="1">
                <a:latin typeface="Times New Roman"/>
                <a:ea typeface="Times New Roman"/>
                <a:cs typeface="Times New Roman"/>
                <a:sym typeface="Times New Roman"/>
              </a:rPr>
              <a:t>Objectives</a:t>
            </a:r>
            <a:endParaRPr sz="4800">
              <a:latin typeface="Times New Roman"/>
              <a:ea typeface="Times New Roman"/>
              <a:cs typeface="Times New Roman"/>
              <a:sym typeface="Times New Roman"/>
            </a:endParaRPr>
          </a:p>
        </p:txBody>
      </p:sp>
      <p:sp>
        <p:nvSpPr>
          <p:cNvPr id="160" name="Google Shape;160;p18"/>
          <p:cNvSpPr/>
          <p:nvPr/>
        </p:nvSpPr>
        <p:spPr>
          <a:xfrm>
            <a:off x="838200" y="1865313"/>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138;p17"/>
          <p:cNvSpPr/>
          <p:nvPr/>
        </p:nvSpPr>
        <p:spPr>
          <a:xfrm>
            <a:off x="2432168" y="2666073"/>
            <a:ext cx="3343772" cy="1055056"/>
          </a:xfrm>
          <a:prstGeom prst="roundRect">
            <a:avLst>
              <a:gd name="adj" fmla="val 10000"/>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 name="Google Shape;138;p17"/>
          <p:cNvSpPr/>
          <p:nvPr/>
        </p:nvSpPr>
        <p:spPr>
          <a:xfrm>
            <a:off x="2529582" y="4652725"/>
            <a:ext cx="3343772" cy="1055056"/>
          </a:xfrm>
          <a:prstGeom prst="roundRect">
            <a:avLst>
              <a:gd name="adj" fmla="val 10000"/>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 name="Google Shape;138;p17"/>
          <p:cNvSpPr/>
          <p:nvPr/>
        </p:nvSpPr>
        <p:spPr>
          <a:xfrm>
            <a:off x="7849387" y="4652725"/>
            <a:ext cx="3343772" cy="1055056"/>
          </a:xfrm>
          <a:prstGeom prst="roundRect">
            <a:avLst>
              <a:gd name="adj" fmla="val 10000"/>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 name="Google Shape;138;p17"/>
          <p:cNvSpPr/>
          <p:nvPr/>
        </p:nvSpPr>
        <p:spPr>
          <a:xfrm>
            <a:off x="7820608" y="2614697"/>
            <a:ext cx="3343772" cy="1055056"/>
          </a:xfrm>
          <a:prstGeom prst="roundRect">
            <a:avLst>
              <a:gd name="adj" fmla="val 10000"/>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61" name="Google Shape;161;p18"/>
          <p:cNvGrpSpPr/>
          <p:nvPr/>
        </p:nvGrpSpPr>
        <p:grpSpPr>
          <a:xfrm>
            <a:off x="1004815" y="2506318"/>
            <a:ext cx="10090929" cy="3343139"/>
            <a:chOff x="212335" y="302868"/>
            <a:chExt cx="10090929" cy="3343139"/>
          </a:xfrm>
        </p:grpSpPr>
        <p:sp>
          <p:nvSpPr>
            <p:cNvPr id="162" name="Google Shape;162;p18"/>
            <p:cNvSpPr/>
            <p:nvPr/>
          </p:nvSpPr>
          <p:spPr>
            <a:xfrm>
              <a:off x="212335" y="302868"/>
              <a:ext cx="1335915" cy="1335915"/>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18"/>
            <p:cNvSpPr/>
            <p:nvPr/>
          </p:nvSpPr>
          <p:spPr>
            <a:xfrm>
              <a:off x="1834517" y="302868"/>
              <a:ext cx="3148942" cy="133591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18"/>
            <p:cNvSpPr txBox="1"/>
            <p:nvPr/>
          </p:nvSpPr>
          <p:spPr>
            <a:xfrm>
              <a:off x="1834517" y="302868"/>
              <a:ext cx="3148942" cy="133591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i="0" u="none" strike="noStrike" cap="none" dirty="0">
                  <a:solidFill>
                    <a:srgbClr val="000000"/>
                  </a:solidFill>
                  <a:latin typeface="+mn-lt"/>
                  <a:sym typeface="Arial"/>
                </a:rPr>
                <a:t>Create an efficient and user-friendly online platform that allows patients to easily book appointments with doctors. </a:t>
              </a:r>
              <a:endParaRPr i="0" u="none" strike="noStrike" cap="none" dirty="0">
                <a:solidFill>
                  <a:srgbClr val="000000"/>
                </a:solidFill>
                <a:latin typeface="+mn-lt"/>
                <a:sym typeface="Arial"/>
              </a:endParaRPr>
            </a:p>
          </p:txBody>
        </p:sp>
        <p:sp>
          <p:nvSpPr>
            <p:cNvPr id="165" name="Google Shape;165;p18"/>
            <p:cNvSpPr/>
            <p:nvPr/>
          </p:nvSpPr>
          <p:spPr>
            <a:xfrm>
              <a:off x="5532139" y="302868"/>
              <a:ext cx="1335915" cy="1335915"/>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18"/>
            <p:cNvSpPr/>
            <p:nvPr/>
          </p:nvSpPr>
          <p:spPr>
            <a:xfrm>
              <a:off x="7154322" y="302868"/>
              <a:ext cx="3148942" cy="133591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18"/>
            <p:cNvSpPr txBox="1"/>
            <p:nvPr/>
          </p:nvSpPr>
          <p:spPr>
            <a:xfrm>
              <a:off x="7154322" y="302868"/>
              <a:ext cx="3148942" cy="1335915"/>
            </a:xfrm>
            <a:prstGeom prst="rect">
              <a:avLst/>
            </a:prstGeom>
            <a:noFill/>
            <a:ln>
              <a:noFill/>
            </a:ln>
          </p:spPr>
          <p:txBody>
            <a:bodyPr spcFirstLastPara="1" wrap="square" lIns="0" tIns="0" rIns="0" bIns="0" anchor="ctr" anchorCtr="0">
              <a:noAutofit/>
            </a:bodyPr>
            <a:lstStyle/>
            <a:p>
              <a:pPr lvl="0"/>
              <a:r>
                <a:rPr lang="en-US" dirty="0">
                  <a:latin typeface="+mn-lt"/>
                </a:rPr>
                <a:t>Provide accurate fee recommendations for fairness and competitiveness.</a:t>
              </a:r>
              <a:endParaRPr i="0" u="none" strike="noStrike" cap="none" dirty="0">
                <a:solidFill>
                  <a:srgbClr val="000000"/>
                </a:solidFill>
                <a:latin typeface="+mn-lt"/>
                <a:sym typeface="Arial"/>
              </a:endParaRPr>
            </a:p>
          </p:txBody>
        </p:sp>
        <p:sp>
          <p:nvSpPr>
            <p:cNvPr id="168" name="Google Shape;168;p18"/>
            <p:cNvSpPr/>
            <p:nvPr/>
          </p:nvSpPr>
          <p:spPr>
            <a:xfrm>
              <a:off x="212335" y="2310092"/>
              <a:ext cx="1335915" cy="1335915"/>
            </a:xfrm>
            <a:prstGeom prst="ellipse">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18"/>
            <p:cNvSpPr/>
            <p:nvPr/>
          </p:nvSpPr>
          <p:spPr>
            <a:xfrm>
              <a:off x="1834517" y="2310092"/>
              <a:ext cx="3148942" cy="133591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18"/>
            <p:cNvSpPr txBox="1"/>
            <p:nvPr/>
          </p:nvSpPr>
          <p:spPr>
            <a:xfrm>
              <a:off x="1834517" y="2310092"/>
              <a:ext cx="3148942" cy="1335915"/>
            </a:xfrm>
            <a:prstGeom prst="rect">
              <a:avLst/>
            </a:prstGeom>
            <a:noFill/>
            <a:ln>
              <a:noFill/>
            </a:ln>
          </p:spPr>
          <p:txBody>
            <a:bodyPr spcFirstLastPara="1" wrap="square" lIns="0" tIns="0" rIns="0" bIns="0" anchor="ctr" anchorCtr="0">
              <a:noAutofit/>
            </a:bodyPr>
            <a:lstStyle/>
            <a:p>
              <a:pPr lvl="0"/>
              <a:r>
                <a:rPr lang="en-US" dirty="0">
                  <a:latin typeface="+mn-lt"/>
                </a:rPr>
                <a:t>Leverage historical data and patient behavior to forecast appointment no-shows.</a:t>
              </a:r>
              <a:endParaRPr i="0" u="none" strike="noStrike" cap="none" dirty="0">
                <a:solidFill>
                  <a:srgbClr val="000000"/>
                </a:solidFill>
                <a:latin typeface="+mn-lt"/>
                <a:sym typeface="Arial"/>
              </a:endParaRPr>
            </a:p>
          </p:txBody>
        </p:sp>
        <p:sp>
          <p:nvSpPr>
            <p:cNvPr id="171" name="Google Shape;171;p18"/>
            <p:cNvSpPr/>
            <p:nvPr/>
          </p:nvSpPr>
          <p:spPr>
            <a:xfrm>
              <a:off x="5532139" y="2310092"/>
              <a:ext cx="1335915" cy="1335915"/>
            </a:xfrm>
            <a:prstGeom prst="ellipse">
              <a:avLst/>
            </a:prstGeom>
            <a:solidFill>
              <a:srgbClr val="599BD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18"/>
            <p:cNvSpPr/>
            <p:nvPr/>
          </p:nvSpPr>
          <p:spPr>
            <a:xfrm>
              <a:off x="7154322" y="2310092"/>
              <a:ext cx="3148942" cy="133591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18"/>
            <p:cNvSpPr txBox="1"/>
            <p:nvPr/>
          </p:nvSpPr>
          <p:spPr>
            <a:xfrm>
              <a:off x="7154322" y="2310092"/>
              <a:ext cx="3148942" cy="1335915"/>
            </a:xfrm>
            <a:prstGeom prst="rect">
              <a:avLst/>
            </a:prstGeom>
            <a:noFill/>
            <a:ln>
              <a:noFill/>
            </a:ln>
          </p:spPr>
          <p:txBody>
            <a:bodyPr spcFirstLastPara="1" wrap="square" lIns="0" tIns="0" rIns="0" bIns="0" anchor="ctr" anchorCtr="0">
              <a:noAutofit/>
            </a:bodyPr>
            <a:lstStyle/>
            <a:p>
              <a:pPr lvl="0"/>
              <a:r>
                <a:rPr lang="en-US" dirty="0">
                  <a:latin typeface="+mn-lt"/>
                </a:rPr>
                <a:t>Enable proactive measures to address potential no-shows and optimize schedules.</a:t>
              </a:r>
              <a:endParaRPr i="0" u="none" strike="noStrike" cap="none" dirty="0">
                <a:solidFill>
                  <a:srgbClr val="444444"/>
                </a:solidFill>
                <a:latin typeface="+mn-lt"/>
                <a:sym typeface="Arial"/>
              </a:endParaRPr>
            </a:p>
          </p:txBody>
        </p:sp>
      </p:grpSp>
      <p:pic>
        <p:nvPicPr>
          <p:cNvPr id="174" name="Google Shape;174;p18"/>
          <p:cNvPicPr preferRelativeResize="0"/>
          <p:nvPr/>
        </p:nvPicPr>
        <p:blipFill rotWithShape="1">
          <a:blip r:embed="rId3">
            <a:alphaModFix/>
          </a:blip>
          <a:srcRect/>
          <a:stretch/>
        </p:blipFill>
        <p:spPr>
          <a:xfrm>
            <a:off x="1145493" y="2666072"/>
            <a:ext cx="1145997" cy="1089636"/>
          </a:xfrm>
          <a:prstGeom prst="ellipse">
            <a:avLst/>
          </a:prstGeom>
          <a:noFill/>
          <a:ln>
            <a:noFill/>
          </a:ln>
        </p:spPr>
      </p:pic>
      <p:pic>
        <p:nvPicPr>
          <p:cNvPr id="175" name="Google Shape;175;p18"/>
          <p:cNvPicPr preferRelativeResize="0"/>
          <p:nvPr/>
        </p:nvPicPr>
        <p:blipFill rotWithShape="1">
          <a:blip r:embed="rId4">
            <a:alphaModFix/>
          </a:blip>
          <a:srcRect/>
          <a:stretch/>
        </p:blipFill>
        <p:spPr>
          <a:xfrm>
            <a:off x="6484693" y="2614697"/>
            <a:ext cx="1163537" cy="1106431"/>
          </a:xfrm>
          <a:prstGeom prst="ellipse">
            <a:avLst/>
          </a:prstGeom>
          <a:noFill/>
          <a:ln>
            <a:noFill/>
          </a:ln>
        </p:spPr>
      </p:pic>
      <p:pic>
        <p:nvPicPr>
          <p:cNvPr id="176" name="Google Shape;176;p18"/>
          <p:cNvPicPr preferRelativeResize="0"/>
          <p:nvPr/>
        </p:nvPicPr>
        <p:blipFill rotWithShape="1">
          <a:blip r:embed="rId5">
            <a:alphaModFix/>
          </a:blip>
          <a:srcRect/>
          <a:stretch/>
        </p:blipFill>
        <p:spPr>
          <a:xfrm>
            <a:off x="1131508" y="4695333"/>
            <a:ext cx="1057410" cy="972331"/>
          </a:xfrm>
          <a:prstGeom prst="ellipse">
            <a:avLst/>
          </a:prstGeom>
          <a:noFill/>
          <a:ln>
            <a:noFill/>
          </a:ln>
        </p:spPr>
      </p:pic>
      <p:pic>
        <p:nvPicPr>
          <p:cNvPr id="177" name="Google Shape;177;p18"/>
          <p:cNvPicPr preferRelativeResize="0"/>
          <p:nvPr/>
        </p:nvPicPr>
        <p:blipFill rotWithShape="1">
          <a:blip r:embed="rId6">
            <a:alphaModFix/>
          </a:blip>
          <a:srcRect/>
          <a:stretch/>
        </p:blipFill>
        <p:spPr>
          <a:xfrm>
            <a:off x="6456726" y="4692842"/>
            <a:ext cx="1071699" cy="974822"/>
          </a:xfrm>
          <a:prstGeom prst="ellipse">
            <a:avLst/>
          </a:prstGeom>
          <a:noFill/>
          <a:ln>
            <a:noFill/>
          </a:ln>
        </p:spPr>
      </p:pic>
    </p:spTree>
  </p:cSld>
  <p:clrMapOvr>
    <a:masterClrMapping/>
  </p:clrMapOvr>
  <p:transition spd="slow">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8"/>
          <p:cNvSpPr/>
          <p:nvPr/>
        </p:nvSpPr>
        <p:spPr>
          <a:xfrm>
            <a:off x="-7960"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9" name="Google Shape;159;p18"/>
          <p:cNvSpPr txBox="1">
            <a:spLocks noGrp="1"/>
          </p:cNvSpPr>
          <p:nvPr>
            <p:ph type="title"/>
          </p:nvPr>
        </p:nvSpPr>
        <p:spPr>
          <a:xfrm>
            <a:off x="753300" y="471405"/>
            <a:ext cx="10515600" cy="71771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Times New Roman"/>
              <a:buNone/>
            </a:pPr>
            <a:r>
              <a:rPr lang="en-US" sz="3200" b="1" dirty="0" smtClean="0">
                <a:latin typeface="Times New Roman"/>
                <a:ea typeface="Times New Roman"/>
                <a:cs typeface="Times New Roman"/>
                <a:sym typeface="Times New Roman"/>
              </a:rPr>
              <a:t>Related Work  </a:t>
            </a:r>
            <a:r>
              <a:rPr lang="en-US" sz="1800" b="1" dirty="0" smtClean="0">
                <a:latin typeface="Times New Roman"/>
                <a:ea typeface="Times New Roman"/>
                <a:cs typeface="Times New Roman"/>
                <a:sym typeface="Times New Roman"/>
              </a:rPr>
              <a:t>(Literature Review)</a:t>
            </a:r>
            <a:endParaRPr sz="1800" dirty="0">
              <a:latin typeface="Times New Roman"/>
              <a:ea typeface="Times New Roman"/>
              <a:cs typeface="Times New Roman"/>
              <a:sym typeface="Times New Roman"/>
            </a:endParaRPr>
          </a:p>
        </p:txBody>
      </p:sp>
      <p:sp>
        <p:nvSpPr>
          <p:cNvPr id="160" name="Google Shape;160;p18"/>
          <p:cNvSpPr/>
          <p:nvPr/>
        </p:nvSpPr>
        <p:spPr>
          <a:xfrm>
            <a:off x="746760" y="1307107"/>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138;p17"/>
          <p:cNvSpPr/>
          <p:nvPr/>
        </p:nvSpPr>
        <p:spPr>
          <a:xfrm>
            <a:off x="697770" y="1719211"/>
            <a:ext cx="10522140" cy="2254262"/>
          </a:xfrm>
          <a:prstGeom prst="roundRect">
            <a:avLst>
              <a:gd name="adj" fmla="val 10000"/>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a:lnSpc>
                <a:spcPct val="150000"/>
              </a:lnSpc>
            </a:pPr>
            <a:r>
              <a:rPr lang="en-US" sz="1600" dirty="0" err="1">
                <a:latin typeface="Times New Roman" panose="02020603050405020304" pitchFamily="18" charset="0"/>
                <a:cs typeface="Times New Roman" panose="02020603050405020304" pitchFamily="18" charset="0"/>
              </a:rPr>
              <a:t>Yavuz</a:t>
            </a:r>
            <a:r>
              <a:rPr lang="en-US" sz="1600" dirty="0">
                <a:latin typeface="Times New Roman" panose="02020603050405020304" pitchFamily="18" charset="0"/>
                <a:cs typeface="Times New Roman" panose="02020603050405020304" pitchFamily="18" charset="0"/>
              </a:rPr>
              <a:t> et al. [3] The study evaluates the interface of the mobile Centralized Doctor Appointment System (CDAS), the largest mobile e-government health application in Turkey. The system facilitates citizens in making medical appointments at public hospitals. The evaluation aims to assess the usability and functionality of the CDAS interface, considering its significance in enhancing healthcare access and appointment management for citizens.</a:t>
            </a:r>
          </a:p>
          <a:p>
            <a:pPr>
              <a:lnSpc>
                <a:spcPct val="150000"/>
              </a:lnSpc>
            </a:pP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sz="16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39" name="Google Shape;138;p17"/>
          <p:cNvSpPr/>
          <p:nvPr/>
        </p:nvSpPr>
        <p:spPr>
          <a:xfrm>
            <a:off x="746760" y="4239539"/>
            <a:ext cx="10522140" cy="1974829"/>
          </a:xfrm>
          <a:prstGeom prst="roundRect">
            <a:avLst>
              <a:gd name="adj" fmla="val 10000"/>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a:lnSpc>
                <a:spcPct val="150000"/>
              </a:lnSpc>
            </a:pPr>
            <a:r>
              <a:rPr lang="en-US" sz="1600" dirty="0" err="1">
                <a:latin typeface="Times New Roman" panose="02020603050405020304" pitchFamily="18" charset="0"/>
                <a:cs typeface="Times New Roman" panose="02020603050405020304" pitchFamily="18" charset="0"/>
              </a:rPr>
              <a:t>Jirabhron</a:t>
            </a:r>
            <a:r>
              <a:rPr lang="en-US" sz="1600" dirty="0">
                <a:latin typeface="Times New Roman" panose="02020603050405020304" pitchFamily="18" charset="0"/>
                <a:cs typeface="Times New Roman" panose="02020603050405020304" pitchFamily="18" charset="0"/>
              </a:rPr>
              <a:t> et al. [7] Through the application, patients receive automated reminders of their upcoming appointments, helping them stay informed and reducing the likelihood of forgetting or missing their scheduled visits. The system operates on multiple mobile platforms, making it accessible to a wide range of users.</a:t>
            </a:r>
          </a:p>
          <a:p>
            <a:pPr>
              <a:lnSpc>
                <a:spcPct val="150000"/>
              </a:lnSpc>
            </a:pP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sz="16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2233120342"/>
      </p:ext>
    </p:extLst>
  </p:cSld>
  <p:clrMapOvr>
    <a:masterClrMapping/>
  </p:clrMapOvr>
  <p:transition spd="slow">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1"/>
        <p:cNvGrpSpPr/>
        <p:nvPr/>
      </p:nvGrpSpPr>
      <p:grpSpPr>
        <a:xfrm>
          <a:off x="0" y="0"/>
          <a:ext cx="0" cy="0"/>
          <a:chOff x="0" y="0"/>
          <a:chExt cx="0" cy="0"/>
        </a:xfrm>
      </p:grpSpPr>
      <p:sp>
        <p:nvSpPr>
          <p:cNvPr id="252" name="Google Shape;252;p22"/>
          <p:cNvSpPr/>
          <p:nvPr/>
        </p:nvSpPr>
        <p:spPr>
          <a:xfrm>
            <a:off x="0"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3" name="Google Shape;253;p22"/>
          <p:cNvSpPr txBox="1">
            <a:spLocks noGrp="1"/>
          </p:cNvSpPr>
          <p:nvPr>
            <p:ph type="title"/>
          </p:nvPr>
        </p:nvSpPr>
        <p:spPr>
          <a:xfrm>
            <a:off x="572493" y="238539"/>
            <a:ext cx="11018520" cy="143441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Times New Roman"/>
              <a:buNone/>
            </a:pPr>
            <a:r>
              <a:rPr lang="en-US" sz="5400" b="1" dirty="0" smtClean="0">
                <a:latin typeface="Times New Roman"/>
                <a:ea typeface="Times New Roman"/>
                <a:cs typeface="Times New Roman"/>
                <a:sym typeface="Times New Roman"/>
              </a:rPr>
              <a:t>Dataset</a:t>
            </a:r>
            <a:endParaRPr sz="5400" b="1" dirty="0">
              <a:latin typeface="Times New Roman"/>
              <a:ea typeface="Times New Roman"/>
              <a:cs typeface="Times New Roman"/>
              <a:sym typeface="Times New Roman"/>
            </a:endParaRPr>
          </a:p>
        </p:txBody>
      </p:sp>
      <p:sp>
        <p:nvSpPr>
          <p:cNvPr id="254" name="Google Shape;254;p22"/>
          <p:cNvSpPr/>
          <p:nvPr/>
        </p:nvSpPr>
        <p:spPr>
          <a:xfrm>
            <a:off x="572493" y="1681544"/>
            <a:ext cx="10972800" cy="18288"/>
          </a:xfrm>
          <a:custGeom>
            <a:avLst/>
            <a:gdLst/>
            <a:ahLst/>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509"/>
            </a:schemeClr>
          </a:solidFill>
          <a:ln w="44450" cap="rnd" cmpd="sng">
            <a:solidFill>
              <a:schemeClr val="accent2">
                <a:alpha val="74509"/>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5" name="Google Shape;255;p22"/>
          <p:cNvSpPr txBox="1">
            <a:spLocks noGrp="1"/>
          </p:cNvSpPr>
          <p:nvPr>
            <p:ph type="body" idx="1"/>
          </p:nvPr>
        </p:nvSpPr>
        <p:spPr>
          <a:xfrm>
            <a:off x="572492" y="2071316"/>
            <a:ext cx="6946893" cy="4089787"/>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SzPts val="2800"/>
              <a:buNone/>
            </a:pPr>
            <a:r>
              <a:rPr lang="en-US" sz="2400" dirty="0">
                <a:latin typeface="Times New Roman"/>
                <a:ea typeface="Times New Roman"/>
                <a:cs typeface="Times New Roman"/>
                <a:sym typeface="Times New Roman"/>
              </a:rPr>
              <a:t>We gather information from </a:t>
            </a:r>
            <a:r>
              <a:rPr lang="en-US" sz="2400" dirty="0" smtClean="0">
                <a:latin typeface="Times New Roman"/>
                <a:ea typeface="Times New Roman"/>
                <a:cs typeface="Times New Roman"/>
                <a:sym typeface="Times New Roman"/>
              </a:rPr>
              <a:t>the data website names </a:t>
            </a:r>
            <a:r>
              <a:rPr lang="en-US" sz="2400" b="1" dirty="0" err="1" smtClean="0">
                <a:latin typeface="Times New Roman"/>
                <a:ea typeface="Times New Roman"/>
                <a:cs typeface="Times New Roman"/>
                <a:sym typeface="Times New Roman"/>
              </a:rPr>
              <a:t>Kaggle</a:t>
            </a:r>
            <a:r>
              <a:rPr lang="en-US" sz="2400" dirty="0" smtClean="0">
                <a:latin typeface="Times New Roman"/>
                <a:ea typeface="Times New Roman"/>
                <a:cs typeface="Times New Roman"/>
                <a:sym typeface="Times New Roman"/>
              </a:rPr>
              <a:t> that </a:t>
            </a:r>
            <a:r>
              <a:rPr lang="en-US" sz="2400" dirty="0">
                <a:latin typeface="Times New Roman"/>
                <a:ea typeface="Times New Roman"/>
                <a:cs typeface="Times New Roman"/>
                <a:sym typeface="Times New Roman"/>
              </a:rPr>
              <a:t>already maintain </a:t>
            </a:r>
            <a:r>
              <a:rPr lang="en-US" sz="2400" dirty="0" smtClean="0">
                <a:latin typeface="Times New Roman"/>
                <a:ea typeface="Times New Roman"/>
                <a:cs typeface="Times New Roman"/>
                <a:sym typeface="Times New Roman"/>
              </a:rPr>
              <a:t>essentia</a:t>
            </a:r>
            <a:r>
              <a:rPr lang="en-US" sz="2400" dirty="0">
                <a:latin typeface="Times New Roman"/>
                <a:ea typeface="Times New Roman"/>
                <a:cs typeface="Times New Roman"/>
                <a:sym typeface="Times New Roman"/>
              </a:rPr>
              <a:t>l</a:t>
            </a:r>
            <a:r>
              <a:rPr lang="en-US" sz="2400" dirty="0" smtClean="0">
                <a:latin typeface="Times New Roman"/>
                <a:ea typeface="Times New Roman"/>
                <a:cs typeface="Times New Roman"/>
                <a:sym typeface="Times New Roman"/>
              </a:rPr>
              <a:t> records for machine learning.</a:t>
            </a:r>
            <a:endParaRPr dirty="0"/>
          </a:p>
          <a:p>
            <a:pPr marL="0" lvl="0" indent="0" algn="l" rtl="0">
              <a:lnSpc>
                <a:spcPct val="90000"/>
              </a:lnSpc>
              <a:spcBef>
                <a:spcPts val="0"/>
              </a:spcBef>
              <a:spcAft>
                <a:spcPts val="0"/>
              </a:spcAft>
              <a:buSzPts val="2800"/>
              <a:buNone/>
            </a:pPr>
            <a:endParaRPr sz="2400" dirty="0">
              <a:latin typeface="Times New Roman"/>
              <a:ea typeface="Times New Roman"/>
              <a:cs typeface="Times New Roman"/>
              <a:sym typeface="Times New Roman"/>
            </a:endParaRPr>
          </a:p>
          <a:p>
            <a:pPr marL="0" lvl="0" indent="0" algn="l" rtl="0">
              <a:lnSpc>
                <a:spcPct val="90000"/>
              </a:lnSpc>
              <a:spcBef>
                <a:spcPts val="0"/>
              </a:spcBef>
              <a:spcAft>
                <a:spcPts val="0"/>
              </a:spcAft>
              <a:buSzPts val="2800"/>
              <a:buNone/>
            </a:pPr>
            <a:r>
              <a:rPr lang="en-US" sz="2400" b="1" dirty="0" smtClean="0">
                <a:latin typeface="Times New Roman"/>
                <a:ea typeface="Times New Roman"/>
                <a:cs typeface="Times New Roman"/>
                <a:sym typeface="Times New Roman"/>
              </a:rPr>
              <a:t>Links:</a:t>
            </a:r>
          </a:p>
          <a:p>
            <a:pPr marL="0" lvl="0" indent="0" algn="l" rtl="0">
              <a:lnSpc>
                <a:spcPct val="90000"/>
              </a:lnSpc>
              <a:spcBef>
                <a:spcPts val="0"/>
              </a:spcBef>
              <a:spcAft>
                <a:spcPts val="0"/>
              </a:spcAft>
              <a:buSzPts val="2800"/>
              <a:buNone/>
            </a:pPr>
            <a:endParaRPr lang="en-US" sz="2400" b="1" dirty="0" smtClean="0">
              <a:latin typeface="Times New Roman"/>
              <a:ea typeface="Times New Roman"/>
              <a:cs typeface="Times New Roman"/>
              <a:sym typeface="Times New Roman"/>
            </a:endParaRPr>
          </a:p>
          <a:p>
            <a:pPr marL="285750" lvl="0" indent="-285750" algn="l" rtl="0">
              <a:lnSpc>
                <a:spcPct val="90000"/>
              </a:lnSpc>
              <a:spcBef>
                <a:spcPts val="0"/>
              </a:spcBef>
              <a:spcAft>
                <a:spcPts val="0"/>
              </a:spcAft>
              <a:buSzPts val="2800"/>
              <a:buFont typeface="Arial" panose="020B0604020202020204" pitchFamily="34" charset="0"/>
              <a:buChar char="•"/>
            </a:pPr>
            <a:r>
              <a:rPr lang="en-US" sz="1600" b="1" dirty="0" smtClean="0">
                <a:latin typeface="Times New Roman"/>
                <a:ea typeface="Times New Roman"/>
                <a:cs typeface="Times New Roman"/>
                <a:sym typeface="Times New Roman"/>
              </a:rPr>
              <a:t>Fee Prediction:</a:t>
            </a:r>
          </a:p>
          <a:p>
            <a:pPr marL="0" lvl="0" indent="0" algn="l" rtl="0">
              <a:lnSpc>
                <a:spcPct val="90000"/>
              </a:lnSpc>
              <a:spcBef>
                <a:spcPts val="0"/>
              </a:spcBef>
              <a:spcAft>
                <a:spcPts val="0"/>
              </a:spcAft>
              <a:buSzPts val="2800"/>
              <a:buNone/>
            </a:pPr>
            <a:endParaRPr lang="en-US" sz="1600" b="1" dirty="0" smtClean="0">
              <a:latin typeface="Times New Roman"/>
              <a:ea typeface="Times New Roman"/>
              <a:cs typeface="Times New Roman"/>
              <a:sym typeface="Times New Roman"/>
            </a:endParaRPr>
          </a:p>
          <a:p>
            <a:pPr marL="0" lvl="0" indent="0" algn="l" rtl="0">
              <a:lnSpc>
                <a:spcPct val="90000"/>
              </a:lnSpc>
              <a:spcBef>
                <a:spcPts val="0"/>
              </a:spcBef>
              <a:spcAft>
                <a:spcPts val="0"/>
              </a:spcAft>
              <a:buSzPts val="2800"/>
              <a:buNone/>
            </a:pPr>
            <a:r>
              <a:rPr lang="en-US" sz="1600" dirty="0" smtClean="0">
                <a:latin typeface="Times New Roman"/>
                <a:ea typeface="Times New Roman"/>
                <a:cs typeface="Times New Roman"/>
                <a:sym typeface="Times New Roman"/>
              </a:rPr>
              <a:t>We used around 42,000 medical data for implementing the “Fee Prediction” model.</a:t>
            </a:r>
            <a:endParaRPr sz="1600" dirty="0">
              <a:latin typeface="Times New Roman"/>
              <a:ea typeface="Times New Roman"/>
              <a:cs typeface="Times New Roman"/>
              <a:sym typeface="Times New Roman"/>
            </a:endParaRPr>
          </a:p>
          <a:p>
            <a:pPr marL="0" lvl="0" indent="0">
              <a:spcBef>
                <a:spcPts val="0"/>
              </a:spcBef>
              <a:buSzPts val="2800"/>
              <a:buNone/>
            </a:pPr>
            <a:r>
              <a:rPr lang="en-US" sz="2400" dirty="0">
                <a:latin typeface="Times New Roman"/>
                <a:ea typeface="Times New Roman"/>
                <a:cs typeface="Times New Roman"/>
                <a:sym typeface="Times New Roman"/>
              </a:rPr>
              <a:t> </a:t>
            </a:r>
            <a:r>
              <a:rPr lang="en-US" sz="1200" dirty="0">
                <a:latin typeface="Times New Roman"/>
                <a:ea typeface="Times New Roman"/>
                <a:cs typeface="Times New Roman"/>
                <a:sym typeface="Times New Roman"/>
                <a:hlinkClick r:id="rId3"/>
              </a:rPr>
              <a:t>https://</a:t>
            </a:r>
            <a:r>
              <a:rPr lang="en-US" sz="1200" dirty="0" smtClean="0">
                <a:latin typeface="Times New Roman"/>
                <a:ea typeface="Times New Roman"/>
                <a:cs typeface="Times New Roman"/>
                <a:sym typeface="Times New Roman"/>
                <a:hlinkClick r:id="rId3"/>
              </a:rPr>
              <a:t>www.kaggle.com/code/sagnik1511/doctor-s-fee-prediction-using-random-forest</a:t>
            </a:r>
            <a:endParaRPr lang="en-US" sz="1200" dirty="0" smtClean="0">
              <a:latin typeface="Times New Roman"/>
              <a:ea typeface="Times New Roman"/>
              <a:cs typeface="Times New Roman"/>
              <a:sym typeface="Times New Roman"/>
            </a:endParaRPr>
          </a:p>
          <a:p>
            <a:pPr marL="0" lvl="0" indent="0">
              <a:spcBef>
                <a:spcPts val="0"/>
              </a:spcBef>
              <a:buSzPts val="2800"/>
              <a:buNone/>
            </a:pPr>
            <a:endParaRPr lang="en-US" sz="2400" dirty="0" smtClean="0">
              <a:latin typeface="Times New Roman"/>
              <a:ea typeface="Times New Roman"/>
              <a:cs typeface="Times New Roman"/>
              <a:sym typeface="Times New Roman"/>
            </a:endParaRPr>
          </a:p>
          <a:p>
            <a:pPr marL="285750" lvl="0" indent="-285750">
              <a:spcBef>
                <a:spcPts val="0"/>
              </a:spcBef>
              <a:buSzPts val="2800"/>
              <a:buFont typeface="Arial" panose="020B0604020202020204" pitchFamily="34" charset="0"/>
              <a:buChar char="•"/>
            </a:pPr>
            <a:r>
              <a:rPr lang="en-US" sz="1600" b="1" dirty="0" smtClean="0">
                <a:latin typeface="Times New Roman"/>
                <a:ea typeface="Times New Roman"/>
                <a:cs typeface="Times New Roman"/>
                <a:sym typeface="Times New Roman"/>
              </a:rPr>
              <a:t>No-Show Model:</a:t>
            </a:r>
          </a:p>
          <a:p>
            <a:pPr marL="0" lvl="0" indent="0">
              <a:spcBef>
                <a:spcPts val="0"/>
              </a:spcBef>
              <a:buSzPts val="2800"/>
              <a:buNone/>
            </a:pPr>
            <a:endParaRPr lang="en-US" sz="1600" b="1" dirty="0">
              <a:latin typeface="Times New Roman"/>
              <a:ea typeface="Times New Roman"/>
              <a:cs typeface="Times New Roman"/>
              <a:sym typeface="Times New Roman"/>
            </a:endParaRPr>
          </a:p>
          <a:p>
            <a:pPr marL="0" indent="0">
              <a:spcBef>
                <a:spcPts val="0"/>
              </a:spcBef>
              <a:buSzPts val="2800"/>
              <a:buNone/>
            </a:pPr>
            <a:r>
              <a:rPr lang="en-US" sz="1600" dirty="0">
                <a:latin typeface="Times New Roman"/>
                <a:ea typeface="Times New Roman"/>
                <a:cs typeface="Times New Roman"/>
                <a:sym typeface="Times New Roman"/>
              </a:rPr>
              <a:t>We used around </a:t>
            </a:r>
            <a:r>
              <a:rPr lang="en-US" sz="1600" dirty="0" smtClean="0">
                <a:latin typeface="Times New Roman"/>
                <a:ea typeface="Times New Roman"/>
                <a:cs typeface="Times New Roman"/>
                <a:sym typeface="Times New Roman"/>
              </a:rPr>
              <a:t>15,50,000 </a:t>
            </a:r>
            <a:r>
              <a:rPr lang="en-US" sz="1600" dirty="0">
                <a:latin typeface="Times New Roman"/>
                <a:ea typeface="Times New Roman"/>
                <a:cs typeface="Times New Roman"/>
                <a:sym typeface="Times New Roman"/>
              </a:rPr>
              <a:t>medical data for implementing the </a:t>
            </a:r>
            <a:r>
              <a:rPr lang="en-US" sz="1600" dirty="0" smtClean="0">
                <a:latin typeface="Times New Roman"/>
                <a:ea typeface="Times New Roman"/>
                <a:cs typeface="Times New Roman"/>
                <a:sym typeface="Times New Roman"/>
              </a:rPr>
              <a:t>“No-Show” </a:t>
            </a:r>
            <a:r>
              <a:rPr lang="en-US" sz="1600" dirty="0">
                <a:latin typeface="Times New Roman"/>
                <a:ea typeface="Times New Roman"/>
                <a:cs typeface="Times New Roman"/>
                <a:sym typeface="Times New Roman"/>
              </a:rPr>
              <a:t>model.</a:t>
            </a:r>
          </a:p>
          <a:p>
            <a:pPr marL="0" lvl="0" indent="0">
              <a:spcBef>
                <a:spcPts val="0"/>
              </a:spcBef>
              <a:buSzPts val="2800"/>
              <a:buNone/>
            </a:pPr>
            <a:endParaRPr lang="en-US" sz="1600" b="1" dirty="0" smtClean="0">
              <a:latin typeface="Times New Roman"/>
              <a:ea typeface="Times New Roman"/>
              <a:cs typeface="Times New Roman"/>
              <a:sym typeface="Times New Roman"/>
            </a:endParaRPr>
          </a:p>
          <a:p>
            <a:pPr marL="0" lvl="0" indent="0">
              <a:spcBef>
                <a:spcPts val="0"/>
              </a:spcBef>
              <a:buSzPts val="2800"/>
              <a:buNone/>
            </a:pPr>
            <a:r>
              <a:rPr lang="en-US" sz="1300" dirty="0">
                <a:latin typeface="Times New Roman"/>
                <a:ea typeface="Times New Roman"/>
                <a:cs typeface="Times New Roman"/>
                <a:sym typeface="Times New Roman"/>
                <a:hlinkClick r:id="rId4"/>
              </a:rPr>
              <a:t>https://</a:t>
            </a:r>
            <a:r>
              <a:rPr lang="en-US" sz="1300" dirty="0" smtClean="0">
                <a:latin typeface="Times New Roman"/>
                <a:ea typeface="Times New Roman"/>
                <a:cs typeface="Times New Roman"/>
                <a:sym typeface="Times New Roman"/>
                <a:hlinkClick r:id="rId4"/>
              </a:rPr>
              <a:t>www.kaggle.com/datasets/joniarroba/noshowappointments/code?datasetId=792&amp;sortBy=voteCount</a:t>
            </a:r>
            <a:endParaRPr lang="en-US" sz="1300" dirty="0" smtClean="0">
              <a:latin typeface="Times New Roman"/>
              <a:ea typeface="Times New Roman"/>
              <a:cs typeface="Times New Roman"/>
              <a:sym typeface="Times New Roman"/>
            </a:endParaRPr>
          </a:p>
          <a:p>
            <a:pPr marL="0" lvl="0" indent="0">
              <a:spcBef>
                <a:spcPts val="0"/>
              </a:spcBef>
              <a:buSzPts val="2800"/>
              <a:buNone/>
            </a:pPr>
            <a:endParaRPr sz="2400" dirty="0">
              <a:latin typeface="Times New Roman"/>
              <a:ea typeface="Times New Roman"/>
              <a:cs typeface="Times New Roman"/>
              <a:sym typeface="Times New Roman"/>
            </a:endParaRPr>
          </a:p>
        </p:txBody>
      </p:sp>
      <p:pic>
        <p:nvPicPr>
          <p:cNvPr id="256" name="Google Shape;256;p22"/>
          <p:cNvPicPr preferRelativeResize="0"/>
          <p:nvPr/>
        </p:nvPicPr>
        <p:blipFill rotWithShape="1">
          <a:blip r:embed="rId5">
            <a:alphaModFix/>
          </a:blip>
          <a:srcRect/>
          <a:stretch/>
        </p:blipFill>
        <p:spPr>
          <a:xfrm>
            <a:off x="7643674" y="2515740"/>
            <a:ext cx="4296792" cy="3000695"/>
          </a:xfrm>
          <a:prstGeom prst="rect">
            <a:avLst/>
          </a:prstGeom>
          <a:noFill/>
          <a:ln>
            <a:noFill/>
          </a:ln>
          <a:effectLst>
            <a:outerShdw blurRad="190500" algn="tl" rotWithShape="0">
              <a:srgbClr val="000000">
                <a:alpha val="69803"/>
              </a:srgbClr>
            </a:outerShdw>
          </a:effectLst>
        </p:spPr>
      </p:pic>
    </p:spTree>
  </p:cSld>
  <p:clrMapOvr>
    <a:masterClrMapping/>
  </p:clrMapOvr>
  <p:transition spd="slow">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0"/>
        <p:cNvGrpSpPr/>
        <p:nvPr/>
      </p:nvGrpSpPr>
      <p:grpSpPr>
        <a:xfrm>
          <a:off x="0" y="0"/>
          <a:ext cx="0" cy="0"/>
          <a:chOff x="0" y="0"/>
          <a:chExt cx="0" cy="0"/>
        </a:xfrm>
      </p:grpSpPr>
      <p:sp>
        <p:nvSpPr>
          <p:cNvPr id="261" name="Google Shape;261;p23"/>
          <p:cNvSpPr/>
          <p:nvPr/>
        </p:nvSpPr>
        <p:spPr>
          <a:xfrm>
            <a:off x="0"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2" name="Google Shape;262;p23"/>
          <p:cNvSpPr txBox="1">
            <a:spLocks noGrp="1"/>
          </p:cNvSpPr>
          <p:nvPr>
            <p:ph type="title"/>
          </p:nvPr>
        </p:nvSpPr>
        <p:spPr>
          <a:xfrm>
            <a:off x="838200" y="265900"/>
            <a:ext cx="10515600" cy="94146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Times New Roman"/>
              <a:buNone/>
            </a:pPr>
            <a:r>
              <a:rPr lang="en-US" sz="3600" dirty="0" smtClean="0">
                <a:latin typeface="Times New Roman"/>
                <a:ea typeface="Times New Roman"/>
                <a:cs typeface="Times New Roman"/>
                <a:sym typeface="Times New Roman"/>
              </a:rPr>
              <a:t>Proposed Methodology </a:t>
            </a:r>
            <a:endParaRPr sz="3600" dirty="0">
              <a:latin typeface="Times New Roman"/>
              <a:ea typeface="Times New Roman"/>
              <a:cs typeface="Times New Roman"/>
              <a:sym typeface="Times New Roman"/>
            </a:endParaRPr>
          </a:p>
        </p:txBody>
      </p:sp>
      <p:sp>
        <p:nvSpPr>
          <p:cNvPr id="263" name="Google Shape;263;p23"/>
          <p:cNvSpPr/>
          <p:nvPr/>
        </p:nvSpPr>
        <p:spPr>
          <a:xfrm>
            <a:off x="838200" y="1207364"/>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474229"/>
            <a:ext cx="10424160" cy="4979837"/>
          </a:xfrm>
          <a:prstGeom prst="rect">
            <a:avLst/>
          </a:prstGeom>
        </p:spPr>
      </p:pic>
    </p:spTree>
  </p:cSld>
  <p:clrMapOvr>
    <a:masterClrMapping/>
  </p:clrMapOvr>
  <p:transition spd="slow">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8"/>
        <p:cNvGrpSpPr/>
        <p:nvPr/>
      </p:nvGrpSpPr>
      <p:grpSpPr>
        <a:xfrm>
          <a:off x="0" y="0"/>
          <a:ext cx="0" cy="0"/>
          <a:chOff x="0" y="0"/>
          <a:chExt cx="0" cy="0"/>
        </a:xfrm>
      </p:grpSpPr>
      <p:sp>
        <p:nvSpPr>
          <p:cNvPr id="269" name="Google Shape;269;p24"/>
          <p:cNvSpPr/>
          <p:nvPr/>
        </p:nvSpPr>
        <p:spPr>
          <a:xfrm>
            <a:off x="0" y="0"/>
            <a:ext cx="12192000"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270" name="Google Shape;270;p24"/>
          <p:cNvSpPr txBox="1">
            <a:spLocks noGrp="1"/>
          </p:cNvSpPr>
          <p:nvPr>
            <p:ph type="title"/>
          </p:nvPr>
        </p:nvSpPr>
        <p:spPr>
          <a:xfrm>
            <a:off x="637071" y="249796"/>
            <a:ext cx="10909640" cy="792477"/>
          </a:xfrm>
          <a:prstGeom prst="rect">
            <a:avLst/>
          </a:prstGeom>
          <a:noFill/>
          <a:ln>
            <a:noFill/>
          </a:ln>
        </p:spPr>
        <p:txBody>
          <a:bodyPr spcFirstLastPara="1" wrap="square" lIns="91425" tIns="45700" rIns="91425" bIns="45700" anchor="ctr" anchorCtr="0">
            <a:normAutofit/>
          </a:bodyPr>
          <a:lstStyle/>
          <a:p>
            <a:pPr lvl="0">
              <a:buSzPts val="6600"/>
            </a:pPr>
            <a:r>
              <a:rPr lang="en-US" sz="3600" dirty="0" smtClean="0">
                <a:solidFill>
                  <a:schemeClr val="dk1"/>
                </a:solidFill>
                <a:latin typeface="Times New Roman" panose="02020603050405020304" pitchFamily="18" charset="0"/>
                <a:cs typeface="Times New Roman" panose="02020603050405020304" pitchFamily="18" charset="0"/>
                <a:sym typeface="Calibri"/>
              </a:rPr>
              <a:t>Result </a:t>
            </a:r>
            <a:r>
              <a:rPr lang="en-US" sz="3600" dirty="0">
                <a:latin typeface="Times New Roman" panose="02020603050405020304" pitchFamily="18" charset="0"/>
                <a:cs typeface="Times New Roman" panose="02020603050405020304" pitchFamily="18" charset="0"/>
              </a:rPr>
              <a:t>Analysis </a:t>
            </a:r>
            <a:r>
              <a:rPr lang="en-US" sz="2000" dirty="0">
                <a:latin typeface="Times New Roman" panose="02020603050405020304" pitchFamily="18" charset="0"/>
                <a:cs typeface="Times New Roman" panose="02020603050405020304" pitchFamily="18" charset="0"/>
              </a:rPr>
              <a:t>(Doctor’s Fee Prediction </a:t>
            </a:r>
            <a:r>
              <a:rPr lang="en-US" sz="2000" dirty="0" smtClean="0">
                <a:latin typeface="Times New Roman" panose="02020603050405020304" pitchFamily="18" charset="0"/>
                <a:cs typeface="Times New Roman" panose="02020603050405020304" pitchFamily="18" charset="0"/>
              </a:rPr>
              <a:t>System)</a:t>
            </a:r>
            <a:endParaRPr sz="2000" dirty="0">
              <a:solidFill>
                <a:schemeClr val="dk1"/>
              </a:solidFill>
              <a:latin typeface="Times New Roman" panose="02020603050405020304" pitchFamily="18" charset="0"/>
              <a:cs typeface="Times New Roman" panose="02020603050405020304" pitchFamily="18" charset="0"/>
              <a:sym typeface="Calibri"/>
            </a:endParaRPr>
          </a:p>
        </p:txBody>
      </p:sp>
      <p:sp>
        <p:nvSpPr>
          <p:cNvPr id="6" name="Google Shape;263;p23"/>
          <p:cNvSpPr/>
          <p:nvPr/>
        </p:nvSpPr>
        <p:spPr>
          <a:xfrm>
            <a:off x="637071" y="958789"/>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 name="Picture 1"/>
          <p:cNvPicPr>
            <a:picLocks noChangeAspect="1"/>
          </p:cNvPicPr>
          <p:nvPr/>
        </p:nvPicPr>
        <p:blipFill>
          <a:blip r:embed="rId3"/>
          <a:stretch>
            <a:fillRect/>
          </a:stretch>
        </p:blipFill>
        <p:spPr>
          <a:xfrm>
            <a:off x="637071" y="1620543"/>
            <a:ext cx="5106781" cy="3173399"/>
          </a:xfrm>
          <a:prstGeom prst="rect">
            <a:avLst/>
          </a:prstGeom>
        </p:spPr>
      </p:pic>
      <p:pic>
        <p:nvPicPr>
          <p:cNvPr id="3" name="Picture 2"/>
          <p:cNvPicPr>
            <a:picLocks noChangeAspect="1"/>
          </p:cNvPicPr>
          <p:nvPr/>
        </p:nvPicPr>
        <p:blipFill>
          <a:blip r:embed="rId4"/>
          <a:stretch>
            <a:fillRect/>
          </a:stretch>
        </p:blipFill>
        <p:spPr>
          <a:xfrm>
            <a:off x="5912528" y="1620543"/>
            <a:ext cx="5148703" cy="3173399"/>
          </a:xfrm>
          <a:prstGeom prst="rect">
            <a:avLst/>
          </a:prstGeom>
        </p:spPr>
      </p:pic>
      <p:sp>
        <p:nvSpPr>
          <p:cNvPr id="4" name="TextBox 3"/>
          <p:cNvSpPr txBox="1"/>
          <p:nvPr/>
        </p:nvSpPr>
        <p:spPr>
          <a:xfrm>
            <a:off x="1663084" y="5087307"/>
            <a:ext cx="3728621" cy="738664"/>
          </a:xfrm>
          <a:prstGeom prst="rect">
            <a:avLst/>
          </a:prstGeom>
          <a:noFill/>
        </p:spPr>
        <p:txBody>
          <a:bodyPr wrap="square" rtlCol="0">
            <a:spAutoFit/>
          </a:bodyPr>
          <a:lstStyle/>
          <a:p>
            <a:r>
              <a:rPr lang="en-US" dirty="0" smtClean="0"/>
              <a:t>Figure : Comparison </a:t>
            </a:r>
            <a:r>
              <a:rPr lang="en-US" dirty="0"/>
              <a:t>of R-squared value</a:t>
            </a:r>
          </a:p>
          <a:p>
            <a:r>
              <a:rPr lang="en-US" dirty="0"/>
              <a:t/>
            </a:r>
            <a:br>
              <a:rPr lang="en-US" dirty="0"/>
            </a:br>
            <a:endParaRPr lang="en-US" dirty="0"/>
          </a:p>
        </p:txBody>
      </p:sp>
      <p:sp>
        <p:nvSpPr>
          <p:cNvPr id="12" name="TextBox 11"/>
          <p:cNvSpPr txBox="1"/>
          <p:nvPr/>
        </p:nvSpPr>
        <p:spPr>
          <a:xfrm>
            <a:off x="7054788" y="5069149"/>
            <a:ext cx="3684233" cy="954107"/>
          </a:xfrm>
          <a:prstGeom prst="rect">
            <a:avLst/>
          </a:prstGeom>
          <a:noFill/>
        </p:spPr>
        <p:txBody>
          <a:bodyPr wrap="square" rtlCol="0">
            <a:spAutoFit/>
          </a:bodyPr>
          <a:lstStyle/>
          <a:p>
            <a:r>
              <a:rPr lang="en-US" dirty="0" smtClean="0"/>
              <a:t>Figure : </a:t>
            </a:r>
            <a:r>
              <a:rPr lang="en-US" dirty="0"/>
              <a:t>Comparison of RMSE Value</a:t>
            </a:r>
          </a:p>
          <a:p>
            <a:r>
              <a:rPr lang="en-US" dirty="0"/>
              <a:t/>
            </a:r>
            <a:br>
              <a:rPr lang="en-US" dirty="0"/>
            </a:br>
            <a:r>
              <a:rPr lang="en-US" dirty="0"/>
              <a:t/>
            </a:r>
            <a:br>
              <a:rPr lang="en-US" dirty="0"/>
            </a:br>
            <a:endParaRPr lang="en-US" dirty="0"/>
          </a:p>
        </p:txBody>
      </p:sp>
    </p:spTree>
  </p:cSld>
  <p:clrMapOvr>
    <a:masterClrMapping/>
  </p:clrMapOvr>
  <p:transition spd="slow">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4"/>
          <p:cNvSpPr/>
          <p:nvPr/>
        </p:nvSpPr>
        <p:spPr>
          <a:xfrm>
            <a:off x="0" y="0"/>
            <a:ext cx="12192000"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270" name="Google Shape;270;p24"/>
          <p:cNvSpPr txBox="1">
            <a:spLocks noGrp="1"/>
          </p:cNvSpPr>
          <p:nvPr>
            <p:ph type="title"/>
          </p:nvPr>
        </p:nvSpPr>
        <p:spPr>
          <a:xfrm>
            <a:off x="637071" y="249796"/>
            <a:ext cx="10909640" cy="792477"/>
          </a:xfrm>
          <a:prstGeom prst="rect">
            <a:avLst/>
          </a:prstGeom>
          <a:noFill/>
          <a:ln>
            <a:noFill/>
          </a:ln>
        </p:spPr>
        <p:txBody>
          <a:bodyPr spcFirstLastPara="1" wrap="square" lIns="91425" tIns="45700" rIns="91425" bIns="45700" anchor="ctr" anchorCtr="0">
            <a:normAutofit/>
          </a:bodyPr>
          <a:lstStyle/>
          <a:p>
            <a:pPr lvl="0">
              <a:buSzPts val="6600"/>
            </a:pPr>
            <a:r>
              <a:rPr lang="en-US" sz="3600" dirty="0" smtClean="0">
                <a:solidFill>
                  <a:schemeClr val="dk1"/>
                </a:solidFill>
                <a:latin typeface="Times New Roman" panose="02020603050405020304" pitchFamily="18" charset="0"/>
                <a:cs typeface="Times New Roman" panose="02020603050405020304" pitchFamily="18" charset="0"/>
                <a:sym typeface="Calibri"/>
              </a:rPr>
              <a:t>Result </a:t>
            </a:r>
            <a:r>
              <a:rPr lang="en-US" sz="3600" dirty="0">
                <a:latin typeface="Times New Roman" panose="02020603050405020304" pitchFamily="18" charset="0"/>
                <a:cs typeface="Times New Roman" panose="02020603050405020304" pitchFamily="18" charset="0"/>
              </a:rPr>
              <a:t>Analysis </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No Show Model</a:t>
            </a:r>
            <a:r>
              <a:rPr lang="en-US" sz="2000" dirty="0" smtClean="0">
                <a:latin typeface="Times New Roman" panose="02020603050405020304" pitchFamily="18" charset="0"/>
                <a:cs typeface="Times New Roman" panose="02020603050405020304" pitchFamily="18" charset="0"/>
              </a:rPr>
              <a:t>)</a:t>
            </a:r>
            <a:endParaRPr sz="2000" dirty="0">
              <a:solidFill>
                <a:schemeClr val="dk1"/>
              </a:solidFill>
              <a:latin typeface="Times New Roman" panose="02020603050405020304" pitchFamily="18" charset="0"/>
              <a:cs typeface="Times New Roman" panose="02020603050405020304" pitchFamily="18" charset="0"/>
              <a:sym typeface="Calibri"/>
            </a:endParaRPr>
          </a:p>
        </p:txBody>
      </p:sp>
      <p:sp>
        <p:nvSpPr>
          <p:cNvPr id="6" name="Google Shape;263;p23"/>
          <p:cNvSpPr/>
          <p:nvPr/>
        </p:nvSpPr>
        <p:spPr>
          <a:xfrm>
            <a:off x="637071" y="958789"/>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 name="TextBox 3"/>
          <p:cNvSpPr txBox="1"/>
          <p:nvPr/>
        </p:nvSpPr>
        <p:spPr>
          <a:xfrm>
            <a:off x="3740459" y="5542365"/>
            <a:ext cx="5243743" cy="1169551"/>
          </a:xfrm>
          <a:prstGeom prst="rect">
            <a:avLst/>
          </a:prstGeom>
          <a:noFill/>
        </p:spPr>
        <p:txBody>
          <a:bodyPr wrap="square" rtlCol="0">
            <a:spAutoFit/>
          </a:bodyPr>
          <a:lstStyle/>
          <a:p>
            <a:r>
              <a:rPr lang="en-US" dirty="0" smtClean="0"/>
              <a:t>Figure : </a:t>
            </a:r>
            <a:r>
              <a:rPr lang="en-US" dirty="0"/>
              <a:t>Comparison of no show model accuracy</a:t>
            </a:r>
          </a:p>
          <a:p>
            <a:r>
              <a:rPr lang="en-US" dirty="0"/>
              <a:t/>
            </a:r>
            <a:br>
              <a:rPr lang="en-US" dirty="0"/>
            </a:br>
            <a:endParaRPr lang="en-US" dirty="0"/>
          </a:p>
          <a:p>
            <a:r>
              <a:rPr lang="en-US" dirty="0"/>
              <a:t/>
            </a:r>
            <a:br>
              <a:rPr lang="en-US" dirty="0"/>
            </a:br>
            <a:endParaRPr lang="en-US" dirty="0"/>
          </a:p>
        </p:txBody>
      </p:sp>
      <p:pic>
        <p:nvPicPr>
          <p:cNvPr id="5" name="Picture 4"/>
          <p:cNvPicPr>
            <a:picLocks noChangeAspect="1"/>
          </p:cNvPicPr>
          <p:nvPr/>
        </p:nvPicPr>
        <p:blipFill>
          <a:blip r:embed="rId3"/>
          <a:stretch>
            <a:fillRect/>
          </a:stretch>
        </p:blipFill>
        <p:spPr>
          <a:xfrm>
            <a:off x="637071" y="1292069"/>
            <a:ext cx="10182225" cy="4000500"/>
          </a:xfrm>
          <a:prstGeom prst="rect">
            <a:avLst/>
          </a:prstGeom>
        </p:spPr>
      </p:pic>
    </p:spTree>
    <p:extLst>
      <p:ext uri="{BB962C8B-B14F-4D97-AF65-F5344CB8AC3E}">
        <p14:creationId xmlns:p14="http://schemas.microsoft.com/office/powerpoint/2010/main" val="1390847418"/>
      </p:ext>
    </p:extLst>
  </p:cSld>
  <p:clrMapOvr>
    <a:masterClrMapping/>
  </p:clrMapOvr>
  <p:transition spd="slow">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5"/>
          <p:cNvSpPr/>
          <p:nvPr/>
        </p:nvSpPr>
        <p:spPr>
          <a:xfrm>
            <a:off x="3048"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8" name="Google Shape;278;p25"/>
          <p:cNvSpPr txBox="1">
            <a:spLocks noGrp="1"/>
          </p:cNvSpPr>
          <p:nvPr>
            <p:ph type="title"/>
          </p:nvPr>
        </p:nvSpPr>
        <p:spPr>
          <a:xfrm>
            <a:off x="640080" y="325369"/>
            <a:ext cx="4029574" cy="195684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Times New Roman"/>
              <a:buNone/>
            </a:pPr>
            <a:r>
              <a:rPr lang="en-US" sz="4800" dirty="0" smtClean="0">
                <a:latin typeface="Times New Roman"/>
                <a:ea typeface="Times New Roman"/>
                <a:cs typeface="Times New Roman"/>
                <a:sym typeface="Times New Roman"/>
              </a:rPr>
              <a:t>Future Work</a:t>
            </a:r>
            <a:endParaRPr sz="4800" dirty="0">
              <a:latin typeface="Times New Roman"/>
              <a:ea typeface="Times New Roman"/>
              <a:cs typeface="Times New Roman"/>
              <a:sym typeface="Times New Roman"/>
            </a:endParaRPr>
          </a:p>
        </p:txBody>
      </p:sp>
      <p:sp>
        <p:nvSpPr>
          <p:cNvPr id="279" name="Google Shape;279;p25"/>
          <p:cNvSpPr/>
          <p:nvPr/>
        </p:nvSpPr>
        <p:spPr>
          <a:xfrm>
            <a:off x="640080" y="2356175"/>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p25"/>
          <p:cNvSpPr txBox="1">
            <a:spLocks noGrp="1"/>
          </p:cNvSpPr>
          <p:nvPr>
            <p:ph type="body" idx="1"/>
          </p:nvPr>
        </p:nvSpPr>
        <p:spPr>
          <a:xfrm>
            <a:off x="640080" y="2872899"/>
            <a:ext cx="4243589" cy="1539303"/>
          </a:xfrm>
          <a:prstGeom prst="rect">
            <a:avLst/>
          </a:prstGeom>
          <a:noFill/>
          <a:ln>
            <a:noFill/>
          </a:ln>
        </p:spPr>
        <p:txBody>
          <a:bodyPr spcFirstLastPara="1" wrap="square" lIns="91425" tIns="45700" rIns="91425" bIns="45700" anchor="t" anchorCtr="0">
            <a:normAutofit fontScale="92500" lnSpcReduction="20000"/>
          </a:bodyPr>
          <a:lstStyle/>
          <a:p>
            <a:pPr lvl="0"/>
            <a:r>
              <a:rPr lang="en-US" sz="2600" dirty="0"/>
              <a:t>Implement automatic retraining of the </a:t>
            </a:r>
            <a:r>
              <a:rPr lang="en-US" sz="2600" dirty="0" smtClean="0"/>
              <a:t>Machine Learning model method </a:t>
            </a:r>
            <a:r>
              <a:rPr lang="en-US" sz="2600" dirty="0"/>
              <a:t>to adapt to dynamic patient behavior.</a:t>
            </a:r>
            <a:endParaRPr sz="2200" dirty="0">
              <a:latin typeface="Times New Roman"/>
              <a:ea typeface="Times New Roman"/>
              <a:cs typeface="Times New Roman"/>
              <a:sym typeface="Times New Roman"/>
            </a:endParaRPr>
          </a:p>
        </p:txBody>
      </p:sp>
      <p:pic>
        <p:nvPicPr>
          <p:cNvPr id="2" name="Picture 1"/>
          <p:cNvPicPr>
            <a:picLocks noChangeAspect="1"/>
          </p:cNvPicPr>
          <p:nvPr/>
        </p:nvPicPr>
        <p:blipFill>
          <a:blip r:embed="rId3"/>
          <a:stretch>
            <a:fillRect/>
          </a:stretch>
        </p:blipFill>
        <p:spPr>
          <a:xfrm>
            <a:off x="6366788" y="2282210"/>
            <a:ext cx="4916730" cy="3319599"/>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450177644"/>
      </p:ext>
    </p:extLst>
  </p:cSld>
  <p:clrMapOvr>
    <a:masterClrMapping/>
  </p:clrMapOvr>
  <p:transition spd="slow">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6"/>
        <p:cNvGrpSpPr/>
        <p:nvPr/>
      </p:nvGrpSpPr>
      <p:grpSpPr>
        <a:xfrm>
          <a:off x="0" y="0"/>
          <a:ext cx="0" cy="0"/>
          <a:chOff x="0" y="0"/>
          <a:chExt cx="0" cy="0"/>
        </a:xfrm>
      </p:grpSpPr>
      <p:sp>
        <p:nvSpPr>
          <p:cNvPr id="277" name="Google Shape;277;p25"/>
          <p:cNvSpPr/>
          <p:nvPr/>
        </p:nvSpPr>
        <p:spPr>
          <a:xfrm>
            <a:off x="3048"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8" name="Google Shape;278;p25"/>
          <p:cNvSpPr txBox="1">
            <a:spLocks noGrp="1"/>
          </p:cNvSpPr>
          <p:nvPr>
            <p:ph type="title"/>
          </p:nvPr>
        </p:nvSpPr>
        <p:spPr>
          <a:xfrm>
            <a:off x="640080" y="325369"/>
            <a:ext cx="4368602" cy="195684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Times New Roman"/>
              <a:buNone/>
            </a:pPr>
            <a:r>
              <a:rPr lang="en-US" sz="5400" b="1">
                <a:latin typeface="Times New Roman"/>
                <a:ea typeface="Times New Roman"/>
                <a:cs typeface="Times New Roman"/>
                <a:sym typeface="Times New Roman"/>
              </a:rPr>
              <a:t>Conclusion</a:t>
            </a:r>
            <a:endParaRPr sz="5400">
              <a:latin typeface="Times New Roman"/>
              <a:ea typeface="Times New Roman"/>
              <a:cs typeface="Times New Roman"/>
              <a:sym typeface="Times New Roman"/>
            </a:endParaRPr>
          </a:p>
        </p:txBody>
      </p:sp>
      <p:sp>
        <p:nvSpPr>
          <p:cNvPr id="279" name="Google Shape;279;p25"/>
          <p:cNvSpPr/>
          <p:nvPr/>
        </p:nvSpPr>
        <p:spPr>
          <a:xfrm>
            <a:off x="640080" y="2282210"/>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p25"/>
          <p:cNvSpPr txBox="1">
            <a:spLocks noGrp="1"/>
          </p:cNvSpPr>
          <p:nvPr>
            <p:ph type="body" idx="1"/>
          </p:nvPr>
        </p:nvSpPr>
        <p:spPr>
          <a:xfrm>
            <a:off x="640080" y="2872899"/>
            <a:ext cx="4243589" cy="3320668"/>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l" rtl="0">
              <a:lnSpc>
                <a:spcPct val="90000"/>
              </a:lnSpc>
              <a:spcBef>
                <a:spcPts val="1000"/>
              </a:spcBef>
              <a:spcAft>
                <a:spcPts val="0"/>
              </a:spcAft>
              <a:buClr>
                <a:schemeClr val="dk1"/>
              </a:buClr>
              <a:buSzPts val="1800"/>
              <a:buChar char="•"/>
            </a:pPr>
            <a:r>
              <a:rPr lang="en-US" sz="2600" dirty="0"/>
              <a:t>Doctor Portal reduces the </a:t>
            </a:r>
            <a:r>
              <a:rPr lang="en-US" sz="2600" dirty="0" smtClean="0"/>
              <a:t>troubles </a:t>
            </a:r>
            <a:r>
              <a:rPr lang="en-US" sz="2600" dirty="0"/>
              <a:t>of people</a:t>
            </a:r>
            <a:r>
              <a:rPr lang="en-US" sz="2600" dirty="0" smtClean="0"/>
              <a:t>.</a:t>
            </a:r>
          </a:p>
          <a:p>
            <a:pPr marL="457200" lvl="0" indent="-342900" algn="l" rtl="0">
              <a:lnSpc>
                <a:spcPct val="90000"/>
              </a:lnSpc>
              <a:spcBef>
                <a:spcPts val="1000"/>
              </a:spcBef>
              <a:spcAft>
                <a:spcPts val="0"/>
              </a:spcAft>
              <a:buClr>
                <a:schemeClr val="dk1"/>
              </a:buClr>
              <a:buSzPts val="1800"/>
              <a:buChar char="•"/>
            </a:pPr>
            <a:endParaRPr dirty="0"/>
          </a:p>
          <a:p>
            <a:pPr marL="457200" lvl="0" indent="-342900" algn="l" rtl="0">
              <a:lnSpc>
                <a:spcPct val="90000"/>
              </a:lnSpc>
              <a:spcBef>
                <a:spcPts val="1000"/>
              </a:spcBef>
              <a:spcAft>
                <a:spcPts val="0"/>
              </a:spcAft>
              <a:buClr>
                <a:schemeClr val="dk1"/>
              </a:buClr>
              <a:buSzPts val="1800"/>
              <a:buChar char="•"/>
            </a:pPr>
            <a:r>
              <a:rPr lang="en-US" sz="2600" dirty="0"/>
              <a:t> People do not need to waste their one day by going to hospital for booking an appointment. </a:t>
            </a:r>
            <a:endParaRPr lang="en-US" sz="2600" dirty="0" smtClean="0"/>
          </a:p>
          <a:p>
            <a:pPr marL="457200" lvl="0" indent="-342900" algn="l" rtl="0">
              <a:lnSpc>
                <a:spcPct val="90000"/>
              </a:lnSpc>
              <a:spcBef>
                <a:spcPts val="1000"/>
              </a:spcBef>
              <a:spcAft>
                <a:spcPts val="0"/>
              </a:spcAft>
              <a:buClr>
                <a:schemeClr val="dk1"/>
              </a:buClr>
              <a:buSzPts val="1800"/>
              <a:buChar char="•"/>
            </a:pPr>
            <a:endParaRPr dirty="0"/>
          </a:p>
          <a:p>
            <a:pPr lvl="0"/>
            <a:r>
              <a:rPr lang="en-US" sz="2600" dirty="0" smtClean="0"/>
              <a:t>Provides </a:t>
            </a:r>
            <a:r>
              <a:rPr lang="en-US" sz="2600" dirty="0"/>
              <a:t>an adaptive and intelligent scheduling solution. </a:t>
            </a:r>
            <a:endParaRPr dirty="0"/>
          </a:p>
          <a:p>
            <a:pPr marL="228600" lvl="0" indent="-88900" algn="l" rtl="0">
              <a:lnSpc>
                <a:spcPct val="90000"/>
              </a:lnSpc>
              <a:spcBef>
                <a:spcPts val="1000"/>
              </a:spcBef>
              <a:spcAft>
                <a:spcPts val="0"/>
              </a:spcAft>
              <a:buClr>
                <a:schemeClr val="dk1"/>
              </a:buClr>
              <a:buSzPts val="2200"/>
              <a:buNone/>
            </a:pPr>
            <a:endParaRPr sz="2200" dirty="0">
              <a:latin typeface="Times New Roman"/>
              <a:ea typeface="Times New Roman"/>
              <a:cs typeface="Times New Roman"/>
              <a:sym typeface="Times New Roman"/>
            </a:endParaRPr>
          </a:p>
        </p:txBody>
      </p:sp>
      <p:pic>
        <p:nvPicPr>
          <p:cNvPr id="281" name="Google Shape;281;p25"/>
          <p:cNvPicPr preferRelativeResize="0"/>
          <p:nvPr/>
        </p:nvPicPr>
        <p:blipFill rotWithShape="1">
          <a:blip r:embed="rId3">
            <a:alphaModFix/>
          </a:blip>
          <a:srcRect/>
          <a:stretch/>
        </p:blipFill>
        <p:spPr>
          <a:xfrm>
            <a:off x="6423891" y="1748901"/>
            <a:ext cx="5246782" cy="3488924"/>
          </a:xfrm>
          <a:prstGeom prst="rect">
            <a:avLst/>
          </a:prstGeom>
          <a:solidFill>
            <a:srgbClr val="ECECEC"/>
          </a:solidFill>
          <a:ln w="190500" cap="sq" cmpd="sng">
            <a:solidFill>
              <a:srgbClr val="FFFFFF"/>
            </a:solidFill>
            <a:prstDash val="solid"/>
            <a:miter lim="800000"/>
            <a:headEnd type="none" w="sm" len="sm"/>
            <a:tailEnd type="none" w="sm" len="sm"/>
          </a:ln>
          <a:effectLst>
            <a:outerShdw blurRad="65000" dist="50800" dir="12900000" kx="195000" ky="145000" algn="tl" rotWithShape="0">
              <a:srgbClr val="000000">
                <a:alpha val="29803"/>
              </a:srgbClr>
            </a:outerShdw>
          </a:effectLst>
        </p:spPr>
      </p:pic>
    </p:spTree>
  </p:cSld>
  <p:clrMapOvr>
    <a:masterClrMapping/>
  </p:clrMapOvr>
  <p:transition spd="slow">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5"/>
          <p:cNvSpPr/>
          <p:nvPr/>
        </p:nvSpPr>
        <p:spPr>
          <a:xfrm>
            <a:off x="3048" y="0"/>
            <a:ext cx="12188952"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8" name="Google Shape;278;p25"/>
          <p:cNvSpPr txBox="1">
            <a:spLocks noGrp="1"/>
          </p:cNvSpPr>
          <p:nvPr>
            <p:ph type="title"/>
          </p:nvPr>
        </p:nvSpPr>
        <p:spPr>
          <a:xfrm>
            <a:off x="640080" y="1425284"/>
            <a:ext cx="4029574" cy="78434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Times New Roman"/>
              <a:buNone/>
            </a:pPr>
            <a:r>
              <a:rPr lang="en-US" sz="4800" dirty="0" smtClean="0">
                <a:latin typeface="Times New Roman"/>
                <a:ea typeface="Times New Roman"/>
                <a:cs typeface="Times New Roman"/>
                <a:sym typeface="Times New Roman"/>
              </a:rPr>
              <a:t>Reference</a:t>
            </a:r>
            <a:endParaRPr sz="4800" dirty="0">
              <a:latin typeface="Times New Roman"/>
              <a:ea typeface="Times New Roman"/>
              <a:cs typeface="Times New Roman"/>
              <a:sym typeface="Times New Roman"/>
            </a:endParaRPr>
          </a:p>
        </p:txBody>
      </p:sp>
      <p:sp>
        <p:nvSpPr>
          <p:cNvPr id="279" name="Google Shape;279;p25"/>
          <p:cNvSpPr/>
          <p:nvPr/>
        </p:nvSpPr>
        <p:spPr>
          <a:xfrm>
            <a:off x="640080" y="2289360"/>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p25"/>
          <p:cNvSpPr txBox="1">
            <a:spLocks noGrp="1"/>
          </p:cNvSpPr>
          <p:nvPr>
            <p:ph type="body" idx="1"/>
          </p:nvPr>
        </p:nvSpPr>
        <p:spPr>
          <a:xfrm>
            <a:off x="640080" y="2968781"/>
            <a:ext cx="11096200" cy="3711459"/>
          </a:xfrm>
          <a:prstGeom prst="rect">
            <a:avLst/>
          </a:prstGeom>
          <a:noFill/>
          <a:ln>
            <a:noFill/>
          </a:ln>
        </p:spPr>
        <p:txBody>
          <a:bodyPr spcFirstLastPara="1" wrap="square" lIns="91425" tIns="45700" rIns="91425" bIns="45700" anchor="t" anchorCtr="0">
            <a:normAutofit/>
          </a:bodyPr>
          <a:lstStyle/>
          <a:p>
            <a:pPr>
              <a:lnSpc>
                <a:spcPct val="150000"/>
              </a:lnSpc>
            </a:pPr>
            <a:r>
              <a:rPr lang="en-US" sz="2000" dirty="0">
                <a:latin typeface="Times New Roman" panose="02020603050405020304" pitchFamily="18" charset="0"/>
                <a:cs typeface="Times New Roman" panose="02020603050405020304" pitchFamily="18" charset="0"/>
              </a:rPr>
              <a:t>[3]</a:t>
            </a:r>
            <a:r>
              <a:rPr lang="en-US" sz="2000" dirty="0" err="1">
                <a:latin typeface="Times New Roman" panose="02020603050405020304" pitchFamily="18" charset="0"/>
                <a:cs typeface="Times New Roman" panose="02020603050405020304" pitchFamily="18" charset="0"/>
              </a:rPr>
              <a:t>Yavuz</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Inal</a:t>
            </a:r>
            <a:r>
              <a:rPr lang="en-US" sz="2000" dirty="0">
                <a:latin typeface="Times New Roman" panose="02020603050405020304" pitchFamily="18" charset="0"/>
                <a:cs typeface="Times New Roman" panose="02020603050405020304" pitchFamily="18" charset="0"/>
              </a:rPr>
              <a:t> (Department of Information Science and Media Studies, University of Bergen, Bergen, Norway)</a:t>
            </a:r>
          </a:p>
          <a:p>
            <a:pPr>
              <a:lnSpc>
                <a:spcPct val="150000"/>
              </a:lnSpc>
            </a:pPr>
            <a:r>
              <a:rPr lang="en-US" sz="2000" dirty="0">
                <a:latin typeface="Times New Roman" panose="02020603050405020304" pitchFamily="18" charset="0"/>
                <a:cs typeface="Times New Roman" panose="02020603050405020304" pitchFamily="18" charset="0"/>
              </a:rPr>
              <a:t>[7]J. </a:t>
            </a:r>
            <a:r>
              <a:rPr lang="en-US" sz="2000" dirty="0" err="1">
                <a:latin typeface="Times New Roman" panose="02020603050405020304" pitchFamily="18" charset="0"/>
                <a:cs typeface="Times New Roman" panose="02020603050405020304" pitchFamily="18" charset="0"/>
              </a:rPr>
              <a:t>Chaiwongsai</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Also published under: </a:t>
            </a:r>
            <a:r>
              <a:rPr lang="en-US" sz="2000" dirty="0" err="1">
                <a:latin typeface="Times New Roman" panose="02020603050405020304" pitchFamily="18" charset="0"/>
                <a:cs typeface="Times New Roman" panose="02020603050405020304" pitchFamily="18" charset="0"/>
              </a:rPr>
              <a:t>Jira</a:t>
            </a:r>
            <a:r>
              <a:rPr lang="en-US" sz="2000" dirty="0">
                <a:latin typeface="Times New Roman" panose="02020603050405020304" pitchFamily="18" charset="0"/>
                <a:cs typeface="Times New Roman" panose="02020603050405020304" pitchFamily="18" charset="0"/>
              </a:rPr>
              <a:t> Born </a:t>
            </a:r>
            <a:r>
              <a:rPr lang="en-US" sz="2000" dirty="0" err="1">
                <a:latin typeface="Times New Roman" panose="02020603050405020304" pitchFamily="18" charset="0"/>
                <a:cs typeface="Times New Roman" panose="02020603050405020304" pitchFamily="18" charset="0"/>
              </a:rPr>
              <a:t>Chaibongsai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Jirabhron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Chaiwongsai</a:t>
            </a:r>
            <a:r>
              <a:rPr lang="en-US" sz="2000" dirty="0">
                <a:latin typeface="Times New Roman" panose="02020603050405020304" pitchFamily="18" charset="0"/>
                <a:cs typeface="Times New Roman" panose="02020603050405020304" pitchFamily="18" charset="0"/>
              </a:rPr>
              <a:t> School of Information and Communication </a:t>
            </a:r>
            <a:r>
              <a:rPr lang="en-US" sz="2000" dirty="0" err="1">
                <a:latin typeface="Times New Roman" panose="02020603050405020304" pitchFamily="18" charset="0"/>
                <a:cs typeface="Times New Roman" panose="02020603050405020304" pitchFamily="18" charset="0"/>
              </a:rPr>
              <a:t>Technology,University</a:t>
            </a:r>
            <a:r>
              <a:rPr lang="en-US" sz="2000" dirty="0">
                <a:latin typeface="Times New Roman" panose="02020603050405020304" pitchFamily="18" charset="0"/>
                <a:cs typeface="Times New Roman" panose="02020603050405020304" pitchFamily="18" charset="0"/>
              </a:rPr>
              <a:t> of </a:t>
            </a:r>
            <a:r>
              <a:rPr lang="en-US" sz="2000" dirty="0" err="1">
                <a:latin typeface="Times New Roman" panose="02020603050405020304" pitchFamily="18" charset="0"/>
                <a:cs typeface="Times New Roman" panose="02020603050405020304" pitchFamily="18" charset="0"/>
              </a:rPr>
              <a:t>Phayao,Phayao</a:t>
            </a:r>
            <a:r>
              <a:rPr lang="en-US" sz="2000" dirty="0">
                <a:latin typeface="Times New Roman" panose="02020603050405020304" pitchFamily="18" charset="0"/>
                <a:cs typeface="Times New Roman" panose="02020603050405020304" pitchFamily="18" charset="0"/>
              </a:rPr>
              <a:t>, Thailand</a:t>
            </a:r>
          </a:p>
          <a:p>
            <a:pPr marL="114300" indent="0">
              <a:buNone/>
            </a:pPr>
            <a:r>
              <a:rPr lang="en-US" sz="2400" dirty="0"/>
              <a:t/>
            </a:r>
            <a:br>
              <a:rPr lang="en-US" sz="2400" dirty="0"/>
            </a:br>
            <a:r>
              <a:rPr lang="en-US" sz="2400" dirty="0"/>
              <a:t/>
            </a:r>
            <a:br>
              <a:rPr lang="en-US" sz="2400" dirty="0"/>
            </a:br>
            <a:endParaRPr sz="22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732793564"/>
      </p:ext>
    </p:extLst>
  </p:cSld>
  <p:clrMapOvr>
    <a:masterClrMapping/>
  </p:clrMapOvr>
  <p:transition spd="slow">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5"/>
        <p:cNvGrpSpPr/>
        <p:nvPr/>
      </p:nvGrpSpPr>
      <p:grpSpPr>
        <a:xfrm>
          <a:off x="0" y="0"/>
          <a:ext cx="0" cy="0"/>
          <a:chOff x="0" y="0"/>
          <a:chExt cx="0" cy="0"/>
        </a:xfrm>
      </p:grpSpPr>
      <p:sp>
        <p:nvSpPr>
          <p:cNvPr id="286" name="Google Shape;286;p26"/>
          <p:cNvSpPr/>
          <p:nvPr/>
        </p:nvSpPr>
        <p:spPr>
          <a:xfrm>
            <a:off x="1" y="0"/>
            <a:ext cx="12191999" cy="6866467"/>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 name="Google Shape;287;p26"/>
          <p:cNvSpPr/>
          <p:nvPr/>
        </p:nvSpPr>
        <p:spPr>
          <a:xfrm>
            <a:off x="3111500" y="370600"/>
            <a:ext cx="5923842" cy="5923842"/>
          </a:xfrm>
          <a:prstGeom prst="ellipse">
            <a:avLst/>
          </a:prstGeom>
          <a:solidFill>
            <a:schemeClr val="lt1">
              <a:alpha val="9450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 name="Google Shape;288;p26"/>
          <p:cNvSpPr txBox="1">
            <a:spLocks noGrp="1"/>
          </p:cNvSpPr>
          <p:nvPr>
            <p:ph type="title"/>
          </p:nvPr>
        </p:nvSpPr>
        <p:spPr>
          <a:xfrm>
            <a:off x="3587860" y="2028840"/>
            <a:ext cx="5037616" cy="260736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sz="8000" b="1">
                <a:latin typeface="Arial"/>
                <a:ea typeface="Arial"/>
                <a:cs typeface="Arial"/>
                <a:sym typeface="Arial"/>
              </a:rPr>
              <a:t>THANK YOU </a:t>
            </a:r>
            <a:endParaRPr sz="8000">
              <a:latin typeface="Arial"/>
              <a:ea typeface="Arial"/>
              <a:cs typeface="Arial"/>
              <a:sym typeface="Arial"/>
            </a:endParaRPr>
          </a:p>
        </p:txBody>
      </p:sp>
      <p:sp>
        <p:nvSpPr>
          <p:cNvPr id="289" name="Google Shape;289;p26"/>
          <p:cNvSpPr/>
          <p:nvPr/>
        </p:nvSpPr>
        <p:spPr>
          <a:xfrm rot="-1433260" flipH="1">
            <a:off x="2607299" y="8363"/>
            <a:ext cx="6816262" cy="6816262"/>
          </a:xfrm>
          <a:prstGeom prst="arc">
            <a:avLst>
              <a:gd name="adj1" fmla="val 16200000"/>
              <a:gd name="adj2" fmla="val 20401595"/>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0" name="Google Shape;290;p26"/>
          <p:cNvSpPr/>
          <p:nvPr/>
        </p:nvSpPr>
        <p:spPr>
          <a:xfrm>
            <a:off x="8153400" y="4609861"/>
            <a:ext cx="873032" cy="84934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p26"/>
          <p:cNvSpPr txBox="1"/>
          <p:nvPr/>
        </p:nvSpPr>
        <p:spPr>
          <a:xfrm>
            <a:off x="630936" y="2807208"/>
            <a:ext cx="3429000" cy="341071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288"/>
                                        </p:tgtEl>
                                        <p:attrNameLst>
                                          <p:attrName>style.visibility</p:attrName>
                                        </p:attrNameLst>
                                      </p:cBhvr>
                                      <p:to>
                                        <p:strVal val="visible"/>
                                      </p:to>
                                    </p:set>
                                    <p:animEffect transition="in" filter="fade">
                                      <p:cBhvr>
                                        <p:cTn id="7" dur="400"/>
                                        <p:tgtEl>
                                          <p:spTgt spid="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734</TotalTime>
  <Words>533</Words>
  <Application>Microsoft Office PowerPoint</Application>
  <PresentationFormat>Widescreen</PresentationFormat>
  <Paragraphs>95</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Consolas</vt:lpstr>
      <vt:lpstr>Noto Sans Symbols</vt:lpstr>
      <vt:lpstr>Times New Roman</vt:lpstr>
      <vt:lpstr>office theme</vt:lpstr>
      <vt:lpstr>WELCOME TO OUR PRESENTATION  Our Project  “Machine Learning for Predictive Analytics in Healthcare: Patient Appointments and Physician Billing” </vt:lpstr>
      <vt:lpstr>Supervisor</vt:lpstr>
      <vt:lpstr>Presented by</vt:lpstr>
      <vt:lpstr>Agenda</vt:lpstr>
      <vt:lpstr>Introduction</vt:lpstr>
      <vt:lpstr>Motivation </vt:lpstr>
      <vt:lpstr>Objectives</vt:lpstr>
      <vt:lpstr>Related Work  (Literature Review)</vt:lpstr>
      <vt:lpstr>Dataset</vt:lpstr>
      <vt:lpstr>Proposed Methodology </vt:lpstr>
      <vt:lpstr>Result Analysis (Doctor’s Fee Prediction System)</vt:lpstr>
      <vt:lpstr>Result Analysis (No Show Model)</vt:lpstr>
      <vt:lpstr>Future Work</vt:lpstr>
      <vt:lpstr>Conclusion</vt:lpstr>
      <vt:lpstr>Reference</vt:lpstr>
      <vt:lpstr>THANK YOU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PRESENTATION  Our Project  “Machine Learning for Predictive Analytics in Healthcare: Patient Appointments and Physician Billing”</dc:title>
  <dc:creator>USER</dc:creator>
  <cp:lastModifiedBy>USER</cp:lastModifiedBy>
  <cp:revision>22</cp:revision>
  <dcterms:modified xsi:type="dcterms:W3CDTF">2024-02-03T21:53:25Z</dcterms:modified>
</cp:coreProperties>
</file>